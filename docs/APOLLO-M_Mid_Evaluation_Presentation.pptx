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handoutMasterIdLst>
    <p:handoutMasterId r:id="rId19"/>
  </p:handout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 id="272" r:id="rId24"/>
    <p:sldId id="273" r:id="rId25"/>
    <p:sldId id="274" r:id="rId26"/>
  </p:sldIdLst>
  <p:sldSz cx="9144000" cy="6858000" type="screen4x3"/>
  <p:notesSz cx="7010400" cy="9296400"/>
  <p:defaultTextStyle>
    <a:defPPr>
      <a:defRPr lang="en-GB"/>
    </a:defPPr>
    <a:lvl1pPr algn="l" defTabSz="457200" rtl="0" fontAlgn="base">
      <a:lnSpc>
        <a:spcPct val="87000"/>
      </a:lnSpc>
      <a:spcBef>
        <a:spcPct val="0"/>
      </a:spcBef>
      <a:spcAft>
        <a:spcPct val="0"/>
      </a:spcAft>
      <a:buClr>
        <a:srgbClr val="000000"/>
      </a:buClr>
      <a:buSzPct val="100000"/>
      <a:buFont typeface="Arial" pitchFamily="34" charset="0"/>
      <a:defRPr kern="1200">
        <a:solidFill>
          <a:schemeClr val="bg1"/>
        </a:solidFill>
        <a:latin typeface="Arial" pitchFamily="34" charset="0"/>
        <a:ea typeface="ＭＳ Ｐゴシック" pitchFamily="34" charset="-128"/>
        <a:cs typeface="+mn-cs"/>
      </a:defRPr>
    </a:lvl1pPr>
    <a:lvl2pPr marL="457200" algn="l" defTabSz="457200" rtl="0" fontAlgn="base">
      <a:lnSpc>
        <a:spcPct val="87000"/>
      </a:lnSpc>
      <a:spcBef>
        <a:spcPct val="0"/>
      </a:spcBef>
      <a:spcAft>
        <a:spcPct val="0"/>
      </a:spcAft>
      <a:buClr>
        <a:srgbClr val="000000"/>
      </a:buClr>
      <a:buSzPct val="100000"/>
      <a:buFont typeface="Arial" pitchFamily="34" charset="0"/>
      <a:defRPr kern="1200">
        <a:solidFill>
          <a:schemeClr val="bg1"/>
        </a:solidFill>
        <a:latin typeface="Arial" pitchFamily="34" charset="0"/>
        <a:ea typeface="ＭＳ Ｐゴシック" pitchFamily="34" charset="-128"/>
        <a:cs typeface="+mn-cs"/>
      </a:defRPr>
    </a:lvl2pPr>
    <a:lvl3pPr marL="914400" algn="l" defTabSz="457200" rtl="0" fontAlgn="base">
      <a:lnSpc>
        <a:spcPct val="87000"/>
      </a:lnSpc>
      <a:spcBef>
        <a:spcPct val="0"/>
      </a:spcBef>
      <a:spcAft>
        <a:spcPct val="0"/>
      </a:spcAft>
      <a:buClr>
        <a:srgbClr val="000000"/>
      </a:buClr>
      <a:buSzPct val="100000"/>
      <a:buFont typeface="Arial" pitchFamily="34" charset="0"/>
      <a:defRPr kern="1200">
        <a:solidFill>
          <a:schemeClr val="bg1"/>
        </a:solidFill>
        <a:latin typeface="Arial" pitchFamily="34" charset="0"/>
        <a:ea typeface="ＭＳ Ｐゴシック" pitchFamily="34" charset="-128"/>
        <a:cs typeface="+mn-cs"/>
      </a:defRPr>
    </a:lvl3pPr>
    <a:lvl4pPr marL="1371600" algn="l" defTabSz="457200" rtl="0" fontAlgn="base">
      <a:lnSpc>
        <a:spcPct val="87000"/>
      </a:lnSpc>
      <a:spcBef>
        <a:spcPct val="0"/>
      </a:spcBef>
      <a:spcAft>
        <a:spcPct val="0"/>
      </a:spcAft>
      <a:buClr>
        <a:srgbClr val="000000"/>
      </a:buClr>
      <a:buSzPct val="100000"/>
      <a:buFont typeface="Arial" pitchFamily="34" charset="0"/>
      <a:defRPr kern="1200">
        <a:solidFill>
          <a:schemeClr val="bg1"/>
        </a:solidFill>
        <a:latin typeface="Arial" pitchFamily="34" charset="0"/>
        <a:ea typeface="ＭＳ Ｐゴシック" pitchFamily="34" charset="-128"/>
        <a:cs typeface="+mn-cs"/>
      </a:defRPr>
    </a:lvl4pPr>
    <a:lvl5pPr marL="1828800" algn="l" defTabSz="457200" rtl="0" fontAlgn="base">
      <a:lnSpc>
        <a:spcPct val="87000"/>
      </a:lnSpc>
      <a:spcBef>
        <a:spcPct val="0"/>
      </a:spcBef>
      <a:spcAft>
        <a:spcPct val="0"/>
      </a:spcAft>
      <a:buClr>
        <a:srgbClr val="000000"/>
      </a:buClr>
      <a:buSzPct val="100000"/>
      <a:buFont typeface="Arial" pitchFamily="34" charset="0"/>
      <a:defRPr kern="1200">
        <a:solidFill>
          <a:schemeClr val="bg1"/>
        </a:solidFill>
        <a:latin typeface="Arial" pitchFamily="34" charset="0"/>
        <a:ea typeface="ＭＳ Ｐゴシック" pitchFamily="34" charset="-128"/>
        <a:cs typeface="+mn-cs"/>
      </a:defRPr>
    </a:lvl5pPr>
    <a:lvl6pPr marL="2286000" algn="l" defTabSz="914400" rtl="0" eaLnBrk="1" latinLnBrk="0" hangingPunct="1">
      <a:defRPr kern="1200">
        <a:solidFill>
          <a:schemeClr val="bg1"/>
        </a:solidFill>
        <a:latin typeface="Arial" pitchFamily="34" charset="0"/>
        <a:ea typeface="ＭＳ Ｐゴシック" pitchFamily="34" charset="-128"/>
        <a:cs typeface="+mn-cs"/>
      </a:defRPr>
    </a:lvl6pPr>
    <a:lvl7pPr marL="2743200" algn="l" defTabSz="914400" rtl="0" eaLnBrk="1" latinLnBrk="0" hangingPunct="1">
      <a:defRPr kern="1200">
        <a:solidFill>
          <a:schemeClr val="bg1"/>
        </a:solidFill>
        <a:latin typeface="Arial" pitchFamily="34" charset="0"/>
        <a:ea typeface="ＭＳ Ｐゴシック" pitchFamily="34" charset="-128"/>
        <a:cs typeface="+mn-cs"/>
      </a:defRPr>
    </a:lvl7pPr>
    <a:lvl8pPr marL="3200400" algn="l" defTabSz="914400" rtl="0" eaLnBrk="1" latinLnBrk="0" hangingPunct="1">
      <a:defRPr kern="1200">
        <a:solidFill>
          <a:schemeClr val="bg1"/>
        </a:solidFill>
        <a:latin typeface="Arial" pitchFamily="34" charset="0"/>
        <a:ea typeface="ＭＳ Ｐゴシック" pitchFamily="34" charset="-128"/>
        <a:cs typeface="+mn-cs"/>
      </a:defRPr>
    </a:lvl8pPr>
    <a:lvl9pPr marL="3657600" algn="l" defTabSz="914400" rtl="0" eaLnBrk="1" latinLnBrk="0" hangingPunct="1">
      <a:defRPr kern="1200">
        <a:solidFill>
          <a:schemeClr val="bg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741D"/>
    <a:srgbClr val="660066"/>
    <a:srgbClr val="808000"/>
    <a:srgbClr val="F353BE"/>
    <a:srgbClr val="CC6600"/>
    <a:srgbClr val="CCFFCC"/>
    <a:srgbClr val="00B050"/>
    <a:srgbClr val="FFFFCC"/>
    <a:srgbClr val="00CC99"/>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03" autoAdjust="0"/>
  </p:normalViewPr>
  <p:slideViewPr>
    <p:cSldViewPr>
      <p:cViewPr>
        <p:scale>
          <a:sx n="100" d="100"/>
          <a:sy n="100" d="100"/>
        </p:scale>
        <p:origin x="6072" y="124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3186"/>
    </p:cViewPr>
  </p:sorterViewPr>
  <p:notesViewPr>
    <p:cSldViewPr>
      <p:cViewPr varScale="1">
        <p:scale>
          <a:sx n="59" d="100"/>
          <a:sy n="59" d="100"/>
        </p:scale>
        <p:origin x="-1752" y="-72"/>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0" hangingPunct="0">
              <a:defRPr sz="1200"/>
            </a:lvl1pPr>
          </a:lstStyle>
          <a:p>
            <a:endParaRPr lang="en-US"/>
          </a:p>
        </p:txBody>
      </p:sp>
      <p:sp>
        <p:nvSpPr>
          <p:cNvPr id="82947" name="Rectangle 3"/>
          <p:cNvSpPr>
            <a:spLocks noGrp="1" noChangeArrowheads="1"/>
          </p:cNvSpPr>
          <p:nvPr>
            <p:ph type="dt" sz="quarter" idx="1"/>
          </p:nvPr>
        </p:nvSpPr>
        <p:spPr bwMode="auto">
          <a:xfrm>
            <a:off x="3970938"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0" hangingPunct="0">
              <a:defRPr sz="1200"/>
            </a:lvl1pPr>
          </a:lstStyle>
          <a:p>
            <a:fld id="{89D6F2F4-1F61-4BFD-8088-AFE6CB4E5C9E}" type="datetimeFigureOut">
              <a:rPr lang="en-US"/>
              <a:pPr/>
              <a:t>1/10/2026</a:t>
            </a:fld>
            <a:endParaRPr lang="en-US"/>
          </a:p>
        </p:txBody>
      </p:sp>
      <p:sp>
        <p:nvSpPr>
          <p:cNvPr id="82948" name="Rectangle 4"/>
          <p:cNvSpPr>
            <a:spLocks noGrp="1" noChangeArrowheads="1"/>
          </p:cNvSpPr>
          <p:nvPr>
            <p:ph type="ftr" sz="quarter" idx="2"/>
          </p:nvPr>
        </p:nvSpPr>
        <p:spPr bwMode="auto">
          <a:xfrm>
            <a:off x="0"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0" hangingPunct="0">
              <a:defRPr sz="1200"/>
            </a:lvl1pPr>
          </a:lstStyle>
          <a:p>
            <a:endParaRPr lang="en-US"/>
          </a:p>
        </p:txBody>
      </p:sp>
      <p:sp>
        <p:nvSpPr>
          <p:cNvPr id="82949" name="Rectangle 5"/>
          <p:cNvSpPr>
            <a:spLocks noGrp="1" noChangeArrowheads="1"/>
          </p:cNvSpPr>
          <p:nvPr>
            <p:ph type="sldNum" sz="quarter" idx="3"/>
          </p:nvPr>
        </p:nvSpPr>
        <p:spPr bwMode="auto">
          <a:xfrm>
            <a:off x="3970938" y="8829967"/>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0" hangingPunct="0">
              <a:defRPr sz="1200"/>
            </a:lvl1pPr>
          </a:lstStyle>
          <a:p>
            <a:fld id="{4016D936-6536-4B98-8C3E-24F823A5B3CC}" type="slidenum">
              <a:rPr lang="en-US"/>
              <a:pPr/>
              <a:t>‹#›</a:t>
            </a:fld>
            <a:endParaRPr lang="en-US"/>
          </a:p>
        </p:txBody>
      </p:sp>
    </p:spTree>
    <p:extLst>
      <p:ext uri="{BB962C8B-B14F-4D97-AF65-F5344CB8AC3E}">
        <p14:creationId xmlns:p14="http://schemas.microsoft.com/office/powerpoint/2010/main" val="2765591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7010400" cy="9296400"/>
          </a:xfrm>
          <a:prstGeom prst="roundRect">
            <a:avLst>
              <a:gd name="adj" fmla="val 23"/>
            </a:avLst>
          </a:prstGeom>
          <a:solidFill>
            <a:srgbClr val="FFFFFF"/>
          </a:solidFill>
          <a:ln w="9360">
            <a:noFill/>
            <a:miter lim="800000"/>
            <a:headEnd/>
            <a:tailEnd/>
          </a:ln>
          <a:effectLst/>
        </p:spPr>
        <p:txBody>
          <a:bodyPr wrap="none" lIns="93177" tIns="46589" rIns="93177" bIns="46589" anchor="ctr"/>
          <a:lstStyle/>
          <a:p>
            <a:pPr>
              <a:buFont typeface="Arial" charset="0"/>
              <a:buNone/>
              <a:defRPr/>
            </a:pPr>
            <a:endParaRPr lang="en-US">
              <a:latin typeface="Arial" charset="0"/>
            </a:endParaRPr>
          </a:p>
        </p:txBody>
      </p:sp>
      <p:sp>
        <p:nvSpPr>
          <p:cNvPr id="28675" name="Rectangle 2"/>
          <p:cNvSpPr>
            <a:spLocks noGrp="1" noRot="1" noChangeAspect="1" noChangeArrowheads="1"/>
          </p:cNvSpPr>
          <p:nvPr>
            <p:ph type="sldImg"/>
          </p:nvPr>
        </p:nvSpPr>
        <p:spPr bwMode="auto">
          <a:xfrm>
            <a:off x="-9713913" y="-6578600"/>
            <a:ext cx="19427826" cy="14571663"/>
          </a:xfrm>
          <a:prstGeom prst="rect">
            <a:avLst/>
          </a:prstGeom>
          <a:noFill/>
          <a:ln w="9525">
            <a:noFill/>
            <a:round/>
            <a:headEnd/>
            <a:tailEnd/>
          </a:ln>
        </p:spPr>
      </p:sp>
      <p:sp>
        <p:nvSpPr>
          <p:cNvPr id="3075" name="Rectangle 3"/>
          <p:cNvSpPr>
            <a:spLocks noGrp="1" noChangeArrowheads="1"/>
          </p:cNvSpPr>
          <p:nvPr>
            <p:ph type="body"/>
          </p:nvPr>
        </p:nvSpPr>
        <p:spPr bwMode="auto">
          <a:xfrm>
            <a:off x="701041" y="4415790"/>
            <a:ext cx="5605074" cy="4181767"/>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439356908"/>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Good morning. We are presenting APOLLO-M, a framework that forecasts instability in online communities. I am Kashaf, with Rizwan and Aaqib, supervised by Mr. Saghir Ahmed. Everything you will see is deployed and publicly reachable, so you can open it yourself.</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 will start with the problem, then our idea, then what we built. The middle of the talk is our main result and the evidence behind it. At the end: who would use this, our timeline, what we cannot yet claim, and where we go next.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Online communities do break down. Hostility rises, the good members leave, and moderators are left firefighting. The tools that exist judge one comment at a time, after it is posted. They describe the present. Nobody tells a moderator which community is heading downhill.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Our starting point was Universe 25. Calhoun gave mice everything except space, and the colony collapsed. It was described afterwards; nothing measured it coming. Online communities have the same problem, except everything is recorded. So the warning signs are already in the data. We treat this as forecasting, not classification.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Five layers. We score each comment, roll that up per community, group similar communities, forecast five days ahead, and raise a graded alert. The rule we followed throughout: code and trained models make every decision, and the language model only writes the explanation.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In plain terms: micro scores comments with toxic-bert. Meso turns that into a health score. The pattern layer clusters communities with no labels. Macro forecasts with a Temporal Fusion Transformer, and gives confidence bands, not one number. Act turns it into an alert and a recommended action.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is our main result, and it is not the one we expected. We hid unstable communities in the data and asked each signal to rank them. Our own Community Health Index scored 0.575 — worse than raw toxicity, which is one of its own ingredients. The reason is that a health score says how bad things are now; instability is about how fast they are changing. Once we measured change, we got 1.000.</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Then we checked it against our graph model, which was built separately with different inputs. It scored 0.415, below chance, and for exactly the same reason. One weak score could be a bug in one formula. Two, arrived at independently, mean the whole type of measure is wrong for this task. That generalisation is what makes it a finding.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Yes. We planted 15 destabilising communities among 60, and the forecaster never sees which. It got the direction right for all 15, and ranked them at 0.732. We tune for recall on purpose: missing a community that is deteriorating costs far more than checking a quiet one that turns out fine.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is not only simulation. We collected 116,854 genuine Reddit comments across 24 communities over 40 days, through Arctic Shift, with no API key. The whole pipeline runs on it. r/PublicFreakout came out least healthy — we never told the system that, it found it.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All of this is live. There is a REST API with interactive documentation, Grafana monitoring reading real metrics, a button that fetches Reddit comments while you watch, and the five-day forecast with its uncertainty band. You can open any of these links right now.</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For evidence: 14 automated tests on the forecasting pipeline, and 67 on CEREBRO, the companion system. The toxicity classifier gets 90.1% on real labelled data we held back. And every number in our report is produced by a script, so it can be checked by re-running it.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Who is this for? Trust and Safety teams first — they cannot watch 500 communities at once, and we tell them which ten matter this week. Then community platform vendors who can resell it, brand safety firms whose advertisers pay to avoid these spaces, and large organisations with internal communities. The hard part is knowing what to measure, and that is the part we have done.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industry is Trust and Safety. On the goals: SDG 16, because online hostility comes before real-world harm, and acting earlier means acting before it spreads. And SDG 9, because the API, the monitoring and the published benchmark are reusable infrastructure, not a one-off model.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Eleven workstreams, all delivered. The honest part of this chart is weeks 4 to 6 — they were not in our plan. We audited our own data, found real problems, and stopped to fix them before continuing.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What we will not claim. Our ground truth is planted, because nobody publishes a list of genuinely unstable communities — so 1.000 shows the pipeline is wired correctly, not real-world accuracy. The misinformation model was trained on news articles and does not transfer to short posts, so we publish no rate from it. Evaluation is single-fold, and English only.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Next: real ground truth, using Reddit's own quarantine and ban dates, training only on what came before and checking whether we flagged it first. Longer history. Wiring the graph model in now that we know what it contributes. Retraining the two out-of-domain models. And publishing the benchmark so others can reproduce us.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close: we set out to predict breakdown rather than react to it. We built it and deployed it. We tested it honestly and found our own score was the weakest signal we had — then fixed it, and confirmed the same failure in a second model. It runs on real data. Anyone can build a pipeline; measuring yours and reporting what it says is the harder part.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Thank you. All the links are here and everything is live. We are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endParaRPr lang="en-US" dirty="0"/>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endParaRPr lang="en-US" dirty="0"/>
          </a:p>
        </p:txBody>
      </p:sp>
      <p:sp>
        <p:nvSpPr>
          <p:cNvPr id="4" name="Rectangle 1"/>
          <p:cNvSpPr>
            <a:spLocks noGrp="1" noChangeArrowheads="1"/>
          </p:cNvSpPr>
          <p:nvPr>
            <p:ph type="ftr" idx="10"/>
          </p:nvPr>
        </p:nvSpPr>
        <p:spPr>
          <a:ln/>
        </p:spPr>
        <p:txBody>
          <a:bodyPr/>
          <a:lstStyle>
            <a:lvl1pPr>
              <a:defRPr/>
            </a:lvl1pPr>
          </a:lstStyle>
          <a:p>
            <a:pPr>
              <a:defRPr/>
            </a:pPr>
            <a:endParaRPr lang="en-US"/>
          </a:p>
        </p:txBody>
      </p:sp>
      <p:sp>
        <p:nvSpPr>
          <p:cNvPr id="5" name="Rectangle 2"/>
          <p:cNvSpPr>
            <a:spLocks noGrp="1" noChangeArrowheads="1"/>
          </p:cNvSpPr>
          <p:nvPr>
            <p:ph type="sldNum" idx="11"/>
          </p:nvPr>
        </p:nvSpPr>
        <p:spPr>
          <a:ln/>
        </p:spPr>
        <p:txBody>
          <a:bodyPr/>
          <a:lstStyle>
            <a:lvl1pPr>
              <a:defRPr/>
            </a:lvl1pPr>
          </a:lstStyle>
          <a:p>
            <a:pPr>
              <a:defRPr/>
            </a:pPr>
            <a:fld id="{7A01A14A-9ACC-44DF-8546-5CB9CEA7396B}" type="slidenum">
              <a:rPr lang="en-GB"/>
              <a:pPr>
                <a:defRPr/>
              </a:pPr>
              <a:t>‹#›</a:t>
            </a:fld>
            <a:endParaRPr lang="en-GB"/>
          </a:p>
        </p:txBody>
      </p:sp>
      <p:sp>
        <p:nvSpPr>
          <p:cNvPr id="6"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en-US" dirty="0"/>
          </a:p>
        </p:txBody>
      </p:sp>
      <p:sp>
        <p:nvSpPr>
          <p:cNvPr id="3" name="內容版面配置區 2"/>
          <p:cNvSpPr>
            <a:spLocks noGrp="1"/>
          </p:cNvSpPr>
          <p:nvPr>
            <p:ph idx="1"/>
          </p:nvPr>
        </p:nvSpPr>
        <p:spPr/>
        <p:txBody>
          <a:bodyPr/>
          <a:lstStyle/>
          <a:p>
            <a:pPr lvl="1"/>
            <a:endParaRPr lang="en-US" dirty="0"/>
          </a:p>
        </p:txBody>
      </p:sp>
      <p:sp>
        <p:nvSpPr>
          <p:cNvPr id="4" name="Rectangle 1"/>
          <p:cNvSpPr>
            <a:spLocks noGrp="1" noChangeArrowheads="1"/>
          </p:cNvSpPr>
          <p:nvPr>
            <p:ph type="ftr" idx="10"/>
          </p:nvPr>
        </p:nvSpPr>
        <p:spPr>
          <a:ln/>
        </p:spPr>
        <p:txBody>
          <a:bodyPr/>
          <a:lstStyle>
            <a:lvl1pPr>
              <a:defRPr/>
            </a:lvl1pPr>
          </a:lstStyle>
          <a:p>
            <a:pPr>
              <a:defRPr/>
            </a:pPr>
            <a:endParaRPr lang="en-US"/>
          </a:p>
        </p:txBody>
      </p:sp>
      <p:sp>
        <p:nvSpPr>
          <p:cNvPr id="5" name="Rectangle 2"/>
          <p:cNvSpPr>
            <a:spLocks noGrp="1" noChangeArrowheads="1"/>
          </p:cNvSpPr>
          <p:nvPr>
            <p:ph type="sldNum" idx="11"/>
          </p:nvPr>
        </p:nvSpPr>
        <p:spPr>
          <a:ln/>
        </p:spPr>
        <p:txBody>
          <a:bodyPr/>
          <a:lstStyle>
            <a:lvl1pPr>
              <a:defRPr/>
            </a:lvl1pPr>
          </a:lstStyle>
          <a:p>
            <a:pPr>
              <a:defRPr/>
            </a:pPr>
            <a:fld id="{452CCB4E-7DDC-4FBD-877B-F1654EDC1940}" type="slidenum">
              <a:rPr lang="en-GB"/>
              <a:pPr>
                <a:defRPr/>
              </a:pPr>
              <a:t>‹#›</a:t>
            </a:fld>
            <a:endParaRPr lang="en-GB"/>
          </a:p>
        </p:txBody>
      </p:sp>
      <p:sp>
        <p:nvSpPr>
          <p:cNvPr id="6" name="Rectangle 15"/>
          <p:cNvSpPr>
            <a:spLocks noGrp="1" noChangeArrowheads="1"/>
          </p:cNvSpPr>
          <p:nvPr>
            <p:ph type="dt" idx="12"/>
          </p:nvPr>
        </p:nvSpPr>
        <p:spPr>
          <a:ln/>
        </p:spPr>
        <p:txBody>
          <a:bodyPr/>
          <a:lstStyle>
            <a:lvl1pPr>
              <a:defRPr/>
            </a:lvl1pPr>
          </a:lstStyle>
          <a:p>
            <a:pPr>
              <a:defRPr/>
            </a:pPr>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4800" y="5943600"/>
            <a:ext cx="2514600" cy="838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endParaRPr lang="en-US" dirty="0"/>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endParaRPr lang="zh-TW" altLang="en-US" dirty="0"/>
          </a:p>
        </p:txBody>
      </p:sp>
      <p:sp>
        <p:nvSpPr>
          <p:cNvPr id="4" name="Rectangle 1"/>
          <p:cNvSpPr>
            <a:spLocks noGrp="1" noChangeArrowheads="1"/>
          </p:cNvSpPr>
          <p:nvPr>
            <p:ph type="ftr" idx="10"/>
          </p:nvPr>
        </p:nvSpPr>
        <p:spPr>
          <a:ln/>
        </p:spPr>
        <p:txBody>
          <a:bodyPr/>
          <a:lstStyle>
            <a:lvl1pPr>
              <a:defRPr/>
            </a:lvl1pPr>
          </a:lstStyle>
          <a:p>
            <a:pPr>
              <a:defRPr/>
            </a:pPr>
            <a:endParaRPr lang="en-US"/>
          </a:p>
        </p:txBody>
      </p:sp>
      <p:sp>
        <p:nvSpPr>
          <p:cNvPr id="5" name="Rectangle 2"/>
          <p:cNvSpPr>
            <a:spLocks noGrp="1" noChangeArrowheads="1"/>
          </p:cNvSpPr>
          <p:nvPr>
            <p:ph type="sldNum" idx="11"/>
          </p:nvPr>
        </p:nvSpPr>
        <p:spPr>
          <a:ln/>
        </p:spPr>
        <p:txBody>
          <a:bodyPr/>
          <a:lstStyle>
            <a:lvl1pPr>
              <a:defRPr/>
            </a:lvl1pPr>
          </a:lstStyle>
          <a:p>
            <a:pPr>
              <a:defRPr/>
            </a:pPr>
            <a:fld id="{8FAA69FA-27AF-48DA-B336-EA57C0E30CC9}" type="slidenum">
              <a:rPr lang="en-GB"/>
              <a:pPr>
                <a:defRPr/>
              </a:pPr>
              <a:t>‹#›</a:t>
            </a:fld>
            <a:endParaRPr lang="en-GB"/>
          </a:p>
        </p:txBody>
      </p:sp>
      <p:sp>
        <p:nvSpPr>
          <p:cNvPr id="6"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en-US" dirty="0"/>
          </a:p>
        </p:txBody>
      </p:sp>
      <p:sp>
        <p:nvSpPr>
          <p:cNvPr id="3" name="內容版面配置區 2"/>
          <p:cNvSpPr>
            <a:spLocks noGrp="1"/>
          </p:cNvSpPr>
          <p:nvPr>
            <p:ph sz="half" idx="1"/>
          </p:nvPr>
        </p:nvSpPr>
        <p:spPr>
          <a:xfrm>
            <a:off x="457200" y="1981200"/>
            <a:ext cx="4037013" cy="3884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4" name="內容版面配置區 3"/>
          <p:cNvSpPr>
            <a:spLocks noGrp="1"/>
          </p:cNvSpPr>
          <p:nvPr>
            <p:ph sz="half" idx="2"/>
          </p:nvPr>
        </p:nvSpPr>
        <p:spPr>
          <a:xfrm>
            <a:off x="4646613" y="1981200"/>
            <a:ext cx="4037012" cy="3884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5" name="Rectangle 1"/>
          <p:cNvSpPr>
            <a:spLocks noGrp="1" noChangeArrowheads="1"/>
          </p:cNvSpPr>
          <p:nvPr>
            <p:ph type="ftr" idx="10"/>
          </p:nvPr>
        </p:nvSpPr>
        <p:spPr>
          <a:ln/>
        </p:spPr>
        <p:txBody>
          <a:bodyPr/>
          <a:lstStyle>
            <a:lvl1pPr>
              <a:defRPr/>
            </a:lvl1pPr>
          </a:lstStyle>
          <a:p>
            <a:pPr>
              <a:defRPr/>
            </a:pPr>
            <a:endParaRPr lang="en-US"/>
          </a:p>
        </p:txBody>
      </p:sp>
      <p:sp>
        <p:nvSpPr>
          <p:cNvPr id="6" name="Rectangle 2"/>
          <p:cNvSpPr>
            <a:spLocks noGrp="1" noChangeArrowheads="1"/>
          </p:cNvSpPr>
          <p:nvPr>
            <p:ph type="sldNum" idx="11"/>
          </p:nvPr>
        </p:nvSpPr>
        <p:spPr>
          <a:ln/>
        </p:spPr>
        <p:txBody>
          <a:bodyPr/>
          <a:lstStyle>
            <a:lvl1pPr>
              <a:defRPr/>
            </a:lvl1pPr>
          </a:lstStyle>
          <a:p>
            <a:pPr>
              <a:defRPr/>
            </a:pPr>
            <a:fld id="{23A7E1EA-AF93-4378-9B13-DE75AF3B732D}" type="slidenum">
              <a:rPr lang="en-GB"/>
              <a:pPr>
                <a:defRPr/>
              </a:pPr>
              <a:t>‹#›</a:t>
            </a:fld>
            <a:endParaRPr lang="en-GB"/>
          </a:p>
        </p:txBody>
      </p:sp>
      <p:sp>
        <p:nvSpPr>
          <p:cNvPr id="7"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endParaRPr lang="en-US" dirty="0"/>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zh-TW" altLang="en-US" dirty="0"/>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endParaRPr lang="en-US" dirty="0"/>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endParaRPr lang="zh-TW" altLang="en-US" dirty="0"/>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endParaRPr lang="en-US" dirty="0"/>
          </a:p>
        </p:txBody>
      </p:sp>
      <p:sp>
        <p:nvSpPr>
          <p:cNvPr id="7" name="Rectangle 1"/>
          <p:cNvSpPr>
            <a:spLocks noGrp="1" noChangeArrowheads="1"/>
          </p:cNvSpPr>
          <p:nvPr>
            <p:ph type="ftr" idx="10"/>
          </p:nvPr>
        </p:nvSpPr>
        <p:spPr>
          <a:ln/>
        </p:spPr>
        <p:txBody>
          <a:bodyPr/>
          <a:lstStyle>
            <a:lvl1pPr>
              <a:defRPr/>
            </a:lvl1pPr>
          </a:lstStyle>
          <a:p>
            <a:pPr>
              <a:defRPr/>
            </a:pPr>
            <a:endParaRPr lang="en-US"/>
          </a:p>
        </p:txBody>
      </p:sp>
      <p:sp>
        <p:nvSpPr>
          <p:cNvPr id="8" name="Rectangle 2"/>
          <p:cNvSpPr>
            <a:spLocks noGrp="1" noChangeArrowheads="1"/>
          </p:cNvSpPr>
          <p:nvPr>
            <p:ph type="sldNum" idx="11"/>
          </p:nvPr>
        </p:nvSpPr>
        <p:spPr>
          <a:ln/>
        </p:spPr>
        <p:txBody>
          <a:bodyPr/>
          <a:lstStyle>
            <a:lvl1pPr>
              <a:defRPr/>
            </a:lvl1pPr>
          </a:lstStyle>
          <a:p>
            <a:pPr>
              <a:defRPr/>
            </a:pPr>
            <a:fld id="{2AED9A46-BDF1-4002-8D4B-183F87C89825}" type="slidenum">
              <a:rPr lang="en-GB"/>
              <a:pPr>
                <a:defRPr/>
              </a:pPr>
              <a:t>‹#›</a:t>
            </a:fld>
            <a:endParaRPr lang="en-GB"/>
          </a:p>
        </p:txBody>
      </p:sp>
      <p:sp>
        <p:nvSpPr>
          <p:cNvPr id="9"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en-US" dirty="0"/>
          </a:p>
        </p:txBody>
      </p:sp>
      <p:sp>
        <p:nvSpPr>
          <p:cNvPr id="3" name="Rectangle 1"/>
          <p:cNvSpPr>
            <a:spLocks noGrp="1" noChangeArrowheads="1"/>
          </p:cNvSpPr>
          <p:nvPr>
            <p:ph type="ftr" idx="10"/>
          </p:nvPr>
        </p:nvSpPr>
        <p:spPr>
          <a:ln/>
        </p:spPr>
        <p:txBody>
          <a:bodyPr/>
          <a:lstStyle>
            <a:lvl1pPr>
              <a:defRPr/>
            </a:lvl1pPr>
          </a:lstStyle>
          <a:p>
            <a:pPr>
              <a:defRPr/>
            </a:pPr>
            <a:endParaRPr lang="en-US"/>
          </a:p>
        </p:txBody>
      </p:sp>
      <p:sp>
        <p:nvSpPr>
          <p:cNvPr id="4" name="Rectangle 2"/>
          <p:cNvSpPr>
            <a:spLocks noGrp="1" noChangeArrowheads="1"/>
          </p:cNvSpPr>
          <p:nvPr>
            <p:ph type="sldNum" idx="11"/>
          </p:nvPr>
        </p:nvSpPr>
        <p:spPr>
          <a:ln/>
        </p:spPr>
        <p:txBody>
          <a:bodyPr/>
          <a:lstStyle>
            <a:lvl1pPr>
              <a:defRPr/>
            </a:lvl1pPr>
          </a:lstStyle>
          <a:p>
            <a:pPr>
              <a:defRPr/>
            </a:pPr>
            <a:fld id="{21AB8FCB-F626-4F4D-A069-008F63AA7EFC}" type="slidenum">
              <a:rPr lang="en-GB"/>
              <a:pPr>
                <a:defRPr/>
              </a:pPr>
              <a:t>‹#›</a:t>
            </a:fld>
            <a:endParaRPr lang="en-GB"/>
          </a:p>
        </p:txBody>
      </p:sp>
      <p:sp>
        <p:nvSpPr>
          <p:cNvPr id="5"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
          <p:cNvSpPr>
            <a:spLocks noGrp="1" noChangeArrowheads="1"/>
          </p:cNvSpPr>
          <p:nvPr>
            <p:ph type="ftr" idx="10"/>
          </p:nvPr>
        </p:nvSpPr>
        <p:spPr>
          <a:ln/>
        </p:spPr>
        <p:txBody>
          <a:bodyPr/>
          <a:lstStyle>
            <a:lvl1pPr>
              <a:defRPr/>
            </a:lvl1pPr>
          </a:lstStyle>
          <a:p>
            <a:pPr>
              <a:defRPr/>
            </a:pPr>
            <a:endParaRPr lang="en-US"/>
          </a:p>
        </p:txBody>
      </p:sp>
      <p:sp>
        <p:nvSpPr>
          <p:cNvPr id="3" name="Rectangle 2"/>
          <p:cNvSpPr>
            <a:spLocks noGrp="1" noChangeArrowheads="1"/>
          </p:cNvSpPr>
          <p:nvPr>
            <p:ph type="sldNum" idx="11"/>
          </p:nvPr>
        </p:nvSpPr>
        <p:spPr>
          <a:ln/>
        </p:spPr>
        <p:txBody>
          <a:bodyPr/>
          <a:lstStyle>
            <a:lvl1pPr>
              <a:defRPr/>
            </a:lvl1pPr>
          </a:lstStyle>
          <a:p>
            <a:pPr>
              <a:defRPr/>
            </a:pPr>
            <a:fld id="{4D0E64F9-AB71-4556-9719-B190A1070ECD}" type="slidenum">
              <a:rPr lang="en-GB"/>
              <a:pPr>
                <a:defRPr/>
              </a:pPr>
              <a:t>‹#›</a:t>
            </a:fld>
            <a:endParaRPr lang="en-GB"/>
          </a:p>
        </p:txBody>
      </p:sp>
      <p:sp>
        <p:nvSpPr>
          <p:cNvPr id="4"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endParaRPr lang="en-US" dirty="0"/>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4"/>
            <a:endParaRPr lang="en-US" dirty="0"/>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endParaRPr lang="zh-TW" altLang="en-US" dirty="0"/>
          </a:p>
        </p:txBody>
      </p:sp>
      <p:sp>
        <p:nvSpPr>
          <p:cNvPr id="5" name="Rectangle 1"/>
          <p:cNvSpPr>
            <a:spLocks noGrp="1" noChangeArrowheads="1"/>
          </p:cNvSpPr>
          <p:nvPr>
            <p:ph type="ftr" idx="10"/>
          </p:nvPr>
        </p:nvSpPr>
        <p:spPr>
          <a:ln/>
        </p:spPr>
        <p:txBody>
          <a:bodyPr/>
          <a:lstStyle>
            <a:lvl1pPr>
              <a:defRPr/>
            </a:lvl1pPr>
          </a:lstStyle>
          <a:p>
            <a:pPr>
              <a:defRPr/>
            </a:pPr>
            <a:endParaRPr lang="en-US"/>
          </a:p>
        </p:txBody>
      </p:sp>
      <p:sp>
        <p:nvSpPr>
          <p:cNvPr id="6" name="Rectangle 2"/>
          <p:cNvSpPr>
            <a:spLocks noGrp="1" noChangeArrowheads="1"/>
          </p:cNvSpPr>
          <p:nvPr>
            <p:ph type="sldNum" idx="11"/>
          </p:nvPr>
        </p:nvSpPr>
        <p:spPr>
          <a:ln/>
        </p:spPr>
        <p:txBody>
          <a:bodyPr/>
          <a:lstStyle>
            <a:lvl1pPr>
              <a:defRPr/>
            </a:lvl1pPr>
          </a:lstStyle>
          <a:p>
            <a:pPr>
              <a:defRPr/>
            </a:pPr>
            <a:fld id="{C8203C67-C836-434C-94D3-2C15122E2CA9}" type="slidenum">
              <a:rPr lang="en-GB"/>
              <a:pPr>
                <a:defRPr/>
              </a:pPr>
              <a:t>‹#›</a:t>
            </a:fld>
            <a:endParaRPr lang="en-GB"/>
          </a:p>
        </p:txBody>
      </p:sp>
      <p:sp>
        <p:nvSpPr>
          <p:cNvPr id="7"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endParaRPr lang="en-US" dirty="0"/>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endParaRPr lang="zh-TW" altLang="en-US" dirty="0"/>
          </a:p>
        </p:txBody>
      </p:sp>
      <p:sp>
        <p:nvSpPr>
          <p:cNvPr id="5" name="Rectangle 1"/>
          <p:cNvSpPr>
            <a:spLocks noGrp="1" noChangeArrowheads="1"/>
          </p:cNvSpPr>
          <p:nvPr>
            <p:ph type="ftr" idx="10"/>
          </p:nvPr>
        </p:nvSpPr>
        <p:spPr>
          <a:ln/>
        </p:spPr>
        <p:txBody>
          <a:bodyPr/>
          <a:lstStyle>
            <a:lvl1pPr>
              <a:defRPr/>
            </a:lvl1pPr>
          </a:lstStyle>
          <a:p>
            <a:pPr>
              <a:defRPr/>
            </a:pPr>
            <a:endParaRPr lang="en-US"/>
          </a:p>
        </p:txBody>
      </p:sp>
      <p:sp>
        <p:nvSpPr>
          <p:cNvPr id="6" name="Rectangle 2"/>
          <p:cNvSpPr>
            <a:spLocks noGrp="1" noChangeArrowheads="1"/>
          </p:cNvSpPr>
          <p:nvPr>
            <p:ph type="sldNum" idx="11"/>
          </p:nvPr>
        </p:nvSpPr>
        <p:spPr>
          <a:ln/>
        </p:spPr>
        <p:txBody>
          <a:bodyPr/>
          <a:lstStyle>
            <a:lvl1pPr>
              <a:defRPr/>
            </a:lvl1pPr>
          </a:lstStyle>
          <a:p>
            <a:pPr>
              <a:defRPr/>
            </a:pPr>
            <a:fld id="{FC035967-18B5-4263-A6D8-7C61B2BB4F99}" type="slidenum">
              <a:rPr lang="en-GB"/>
              <a:pPr>
                <a:defRPr/>
              </a:pPr>
              <a:t>‹#›</a:t>
            </a:fld>
            <a:endParaRPr lang="en-GB"/>
          </a:p>
        </p:txBody>
      </p:sp>
      <p:sp>
        <p:nvSpPr>
          <p:cNvPr id="7"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en-US" dirty="0"/>
          </a:p>
        </p:txBody>
      </p:sp>
      <p:sp>
        <p:nvSpPr>
          <p:cNvPr id="3" name="直排文字版面配置區 2"/>
          <p:cNvSpPr>
            <a:spLocks noGrp="1"/>
          </p:cNvSpPr>
          <p:nvPr>
            <p:ph type="body" orient="vert" idx="1"/>
          </p:nvPr>
        </p:nvSpPr>
        <p:spPr/>
        <p:txBody>
          <a:bodyPr vert="eaVert"/>
          <a:lstStyle/>
          <a:p>
            <a:pPr lvl="0"/>
            <a:endParaRPr lang="en-US" dirty="0"/>
          </a:p>
        </p:txBody>
      </p:sp>
      <p:sp>
        <p:nvSpPr>
          <p:cNvPr id="4" name="Rectangle 1"/>
          <p:cNvSpPr>
            <a:spLocks noGrp="1" noChangeArrowheads="1"/>
          </p:cNvSpPr>
          <p:nvPr>
            <p:ph type="ftr" idx="10"/>
          </p:nvPr>
        </p:nvSpPr>
        <p:spPr>
          <a:ln/>
        </p:spPr>
        <p:txBody>
          <a:bodyPr/>
          <a:lstStyle>
            <a:lvl1pPr>
              <a:defRPr/>
            </a:lvl1pPr>
          </a:lstStyle>
          <a:p>
            <a:pPr>
              <a:defRPr/>
            </a:pPr>
            <a:endParaRPr lang="en-US"/>
          </a:p>
        </p:txBody>
      </p:sp>
      <p:sp>
        <p:nvSpPr>
          <p:cNvPr id="5" name="Rectangle 2"/>
          <p:cNvSpPr>
            <a:spLocks noGrp="1" noChangeArrowheads="1"/>
          </p:cNvSpPr>
          <p:nvPr>
            <p:ph type="sldNum" idx="11"/>
          </p:nvPr>
        </p:nvSpPr>
        <p:spPr>
          <a:ln/>
        </p:spPr>
        <p:txBody>
          <a:bodyPr/>
          <a:lstStyle>
            <a:lvl1pPr>
              <a:defRPr/>
            </a:lvl1pPr>
          </a:lstStyle>
          <a:p>
            <a:pPr>
              <a:defRPr/>
            </a:pPr>
            <a:fld id="{A6AA45D1-6346-4005-BFEF-8F149B0F777A}" type="slidenum">
              <a:rPr lang="en-GB"/>
              <a:pPr>
                <a:defRPr/>
              </a:pPr>
              <a:t>‹#›</a:t>
            </a:fld>
            <a:endParaRPr lang="en-GB"/>
          </a:p>
        </p:txBody>
      </p:sp>
      <p:sp>
        <p:nvSpPr>
          <p:cNvPr id="6"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7813" y="457200"/>
            <a:ext cx="2055812" cy="5408613"/>
          </a:xfrm>
        </p:spPr>
        <p:txBody>
          <a:bodyPr vert="eaVert"/>
          <a:lstStyle/>
          <a:p>
            <a:endParaRPr lang="en-US" dirty="0"/>
          </a:p>
        </p:txBody>
      </p:sp>
      <p:sp>
        <p:nvSpPr>
          <p:cNvPr id="3" name="直排文字版面配置區 2"/>
          <p:cNvSpPr>
            <a:spLocks noGrp="1"/>
          </p:cNvSpPr>
          <p:nvPr>
            <p:ph type="body" orient="vert" idx="1"/>
          </p:nvPr>
        </p:nvSpPr>
        <p:spPr>
          <a:xfrm>
            <a:off x="457200" y="457200"/>
            <a:ext cx="6018213" cy="5408613"/>
          </a:xfrm>
        </p:spPr>
        <p:txBody>
          <a:bodyPr vert="eaVert"/>
          <a:lstStyle/>
          <a:p>
            <a:pPr lvl="0"/>
            <a:endParaRPr lang="en-US" dirty="0"/>
          </a:p>
        </p:txBody>
      </p:sp>
      <p:sp>
        <p:nvSpPr>
          <p:cNvPr id="4" name="Rectangle 1"/>
          <p:cNvSpPr>
            <a:spLocks noGrp="1" noChangeArrowheads="1"/>
          </p:cNvSpPr>
          <p:nvPr>
            <p:ph type="ftr" idx="10"/>
          </p:nvPr>
        </p:nvSpPr>
        <p:spPr>
          <a:ln/>
        </p:spPr>
        <p:txBody>
          <a:bodyPr/>
          <a:lstStyle>
            <a:lvl1pPr>
              <a:defRPr/>
            </a:lvl1pPr>
          </a:lstStyle>
          <a:p>
            <a:pPr>
              <a:defRPr/>
            </a:pPr>
            <a:endParaRPr lang="en-US"/>
          </a:p>
        </p:txBody>
      </p:sp>
      <p:sp>
        <p:nvSpPr>
          <p:cNvPr id="5" name="Rectangle 2"/>
          <p:cNvSpPr>
            <a:spLocks noGrp="1" noChangeArrowheads="1"/>
          </p:cNvSpPr>
          <p:nvPr>
            <p:ph type="sldNum" idx="11"/>
          </p:nvPr>
        </p:nvSpPr>
        <p:spPr>
          <a:ln/>
        </p:spPr>
        <p:txBody>
          <a:bodyPr/>
          <a:lstStyle>
            <a:lvl1pPr>
              <a:defRPr/>
            </a:lvl1pPr>
          </a:lstStyle>
          <a:p>
            <a:pPr>
              <a:defRPr/>
            </a:pPr>
            <a:fld id="{88E441C6-9307-4551-9563-D8CFA7361E2B}" type="slidenum">
              <a:rPr lang="en-GB"/>
              <a:pPr>
                <a:defRPr/>
              </a:pPr>
              <a:t>‹#›</a:t>
            </a:fld>
            <a:endParaRPr lang="en-GB"/>
          </a:p>
        </p:txBody>
      </p:sp>
      <p:sp>
        <p:nvSpPr>
          <p:cNvPr id="6"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457200"/>
            <a:ext cx="8226425" cy="1370013"/>
          </a:xfrm>
        </p:spPr>
        <p:txBody>
          <a:bodyPr/>
          <a:lstStyle/>
          <a:p>
            <a:endParaRPr lang="en-US" dirty="0"/>
          </a:p>
        </p:txBody>
      </p:sp>
      <p:sp>
        <p:nvSpPr>
          <p:cNvPr id="3" name="文字版面配置區 2"/>
          <p:cNvSpPr>
            <a:spLocks noGrp="1"/>
          </p:cNvSpPr>
          <p:nvPr>
            <p:ph type="body" sz="half" idx="1"/>
          </p:nvPr>
        </p:nvSpPr>
        <p:spPr>
          <a:xfrm>
            <a:off x="457200" y="1981200"/>
            <a:ext cx="4037013" cy="3884613"/>
          </a:xfrm>
        </p:spPr>
        <p:txBody>
          <a:bodyPr/>
          <a:lstStyle/>
          <a:p>
            <a:pPr lvl="0"/>
            <a:endParaRPr lang="en-US" dirty="0"/>
          </a:p>
        </p:txBody>
      </p:sp>
      <p:sp>
        <p:nvSpPr>
          <p:cNvPr id="4" name="內容版面配置區 3"/>
          <p:cNvSpPr>
            <a:spLocks noGrp="1"/>
          </p:cNvSpPr>
          <p:nvPr>
            <p:ph sz="quarter" idx="2"/>
          </p:nvPr>
        </p:nvSpPr>
        <p:spPr>
          <a:xfrm>
            <a:off x="4646613" y="1981200"/>
            <a:ext cx="4037012" cy="1865313"/>
          </a:xfrm>
        </p:spPr>
        <p:txBody>
          <a:bodyPr/>
          <a:lstStyle/>
          <a:p>
            <a:pPr lvl="0"/>
            <a:endParaRPr lang="en-US" dirty="0"/>
          </a:p>
        </p:txBody>
      </p:sp>
      <p:sp>
        <p:nvSpPr>
          <p:cNvPr id="5" name="內容版面配置區 4"/>
          <p:cNvSpPr>
            <a:spLocks noGrp="1"/>
          </p:cNvSpPr>
          <p:nvPr>
            <p:ph sz="quarter" idx="3"/>
          </p:nvPr>
        </p:nvSpPr>
        <p:spPr>
          <a:xfrm>
            <a:off x="4646613" y="3998913"/>
            <a:ext cx="4037012" cy="1866900"/>
          </a:xfrm>
        </p:spPr>
        <p:txBody>
          <a:bodyPr/>
          <a:lstStyle/>
          <a:p>
            <a:pPr lvl="0"/>
            <a:endParaRPr lang="en-US" dirty="0"/>
          </a:p>
        </p:txBody>
      </p:sp>
      <p:sp>
        <p:nvSpPr>
          <p:cNvPr id="6" name="Rectangle 1"/>
          <p:cNvSpPr>
            <a:spLocks noGrp="1" noChangeArrowheads="1"/>
          </p:cNvSpPr>
          <p:nvPr>
            <p:ph type="ftr" idx="10"/>
          </p:nvPr>
        </p:nvSpPr>
        <p:spPr>
          <a:ln/>
        </p:spPr>
        <p:txBody>
          <a:bodyPr/>
          <a:lstStyle>
            <a:lvl1pPr>
              <a:defRPr/>
            </a:lvl1pPr>
          </a:lstStyle>
          <a:p>
            <a:pPr>
              <a:defRPr/>
            </a:pPr>
            <a:endParaRPr lang="en-US"/>
          </a:p>
        </p:txBody>
      </p:sp>
      <p:sp>
        <p:nvSpPr>
          <p:cNvPr id="7" name="Rectangle 2"/>
          <p:cNvSpPr>
            <a:spLocks noGrp="1" noChangeArrowheads="1"/>
          </p:cNvSpPr>
          <p:nvPr>
            <p:ph type="sldNum" idx="11"/>
          </p:nvPr>
        </p:nvSpPr>
        <p:spPr>
          <a:ln/>
        </p:spPr>
        <p:txBody>
          <a:bodyPr/>
          <a:lstStyle>
            <a:lvl1pPr>
              <a:defRPr/>
            </a:lvl1pPr>
          </a:lstStyle>
          <a:p>
            <a:pPr>
              <a:defRPr/>
            </a:pPr>
            <a:fld id="{416211F5-4CF2-416A-9916-85D0784B4C08}" type="slidenum">
              <a:rPr lang="en-GB"/>
              <a:pPr>
                <a:defRPr/>
              </a:pPr>
              <a:t>‹#›</a:t>
            </a:fld>
            <a:endParaRPr lang="en-GB"/>
          </a:p>
        </p:txBody>
      </p:sp>
      <p:sp>
        <p:nvSpPr>
          <p:cNvPr id="8"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457200"/>
            <a:ext cx="8226425" cy="1370013"/>
          </a:xfrm>
        </p:spPr>
        <p:txBody>
          <a:bodyPr/>
          <a:lstStyle/>
          <a:p>
            <a:endParaRPr lang="en-US" dirty="0"/>
          </a:p>
        </p:txBody>
      </p:sp>
      <p:sp>
        <p:nvSpPr>
          <p:cNvPr id="3" name="文字版面配置區 2"/>
          <p:cNvSpPr>
            <a:spLocks noGrp="1"/>
          </p:cNvSpPr>
          <p:nvPr>
            <p:ph type="body" sz="half" idx="1"/>
          </p:nvPr>
        </p:nvSpPr>
        <p:spPr>
          <a:xfrm>
            <a:off x="457200" y="1981200"/>
            <a:ext cx="4037013" cy="3884613"/>
          </a:xfrm>
        </p:spPr>
        <p:txBody>
          <a:bodyPr/>
          <a:lstStyle/>
          <a:p>
            <a:pPr lvl="0"/>
            <a:endParaRPr lang="en-US" dirty="0"/>
          </a:p>
        </p:txBody>
      </p:sp>
      <p:sp>
        <p:nvSpPr>
          <p:cNvPr id="4" name="內容版面配置區 3"/>
          <p:cNvSpPr>
            <a:spLocks noGrp="1"/>
          </p:cNvSpPr>
          <p:nvPr>
            <p:ph sz="half" idx="2"/>
          </p:nvPr>
        </p:nvSpPr>
        <p:spPr>
          <a:xfrm>
            <a:off x="4646613" y="1981200"/>
            <a:ext cx="4037012" cy="3884613"/>
          </a:xfrm>
        </p:spPr>
        <p:txBody>
          <a:bodyPr/>
          <a:lstStyle/>
          <a:p>
            <a:pPr lvl="0"/>
            <a:endParaRPr lang="en-US" dirty="0"/>
          </a:p>
        </p:txBody>
      </p:sp>
      <p:sp>
        <p:nvSpPr>
          <p:cNvPr id="5" name="Rectangle 1"/>
          <p:cNvSpPr>
            <a:spLocks noGrp="1" noChangeArrowheads="1"/>
          </p:cNvSpPr>
          <p:nvPr>
            <p:ph type="ftr" idx="10"/>
          </p:nvPr>
        </p:nvSpPr>
        <p:spPr>
          <a:ln/>
        </p:spPr>
        <p:txBody>
          <a:bodyPr/>
          <a:lstStyle>
            <a:lvl1pPr>
              <a:defRPr/>
            </a:lvl1pPr>
          </a:lstStyle>
          <a:p>
            <a:pPr>
              <a:defRPr/>
            </a:pPr>
            <a:endParaRPr lang="en-US"/>
          </a:p>
        </p:txBody>
      </p:sp>
      <p:sp>
        <p:nvSpPr>
          <p:cNvPr id="6" name="Rectangle 2"/>
          <p:cNvSpPr>
            <a:spLocks noGrp="1" noChangeArrowheads="1"/>
          </p:cNvSpPr>
          <p:nvPr>
            <p:ph type="sldNum" idx="11"/>
          </p:nvPr>
        </p:nvSpPr>
        <p:spPr>
          <a:ln/>
        </p:spPr>
        <p:txBody>
          <a:bodyPr/>
          <a:lstStyle>
            <a:lvl1pPr>
              <a:defRPr/>
            </a:lvl1pPr>
          </a:lstStyle>
          <a:p>
            <a:pPr>
              <a:defRPr/>
            </a:pPr>
            <a:fld id="{E3A0C61A-1B91-4079-B6EE-43D8F7F0EDC8}" type="slidenum">
              <a:rPr lang="en-GB"/>
              <a:pPr>
                <a:defRPr/>
              </a:pPr>
              <a:t>‹#›</a:t>
            </a:fld>
            <a:endParaRPr lang="en-GB"/>
          </a:p>
        </p:txBody>
      </p:sp>
      <p:sp>
        <p:nvSpPr>
          <p:cNvPr id="7" name="Rectangle 15"/>
          <p:cNvSpPr>
            <a:spLocks noGrp="1" noChangeArrowheads="1"/>
          </p:cNvSpPr>
          <p:nvPr>
            <p:ph type="dt" idx="12"/>
          </p:nvPr>
        </p:nvSpPr>
        <p:spPr>
          <a:ln/>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ftr"/>
          </p:nvPr>
        </p:nvSpPr>
        <p:spPr bwMode="auto">
          <a:xfrm>
            <a:off x="3124200" y="6248400"/>
            <a:ext cx="2892425" cy="454025"/>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ctr">
              <a:lnSpc>
                <a:spcPct val="100000"/>
              </a:lnSpc>
              <a:buFont typeface="Arial" charset="0"/>
              <a:buNone/>
              <a:defRPr sz="1200">
                <a:solidFill>
                  <a:srgbClr val="000000"/>
                </a:solidFill>
                <a:latin typeface="Arial" charset="0"/>
              </a:defRPr>
            </a:lvl1pPr>
          </a:lstStyle>
          <a:p>
            <a:pPr>
              <a:defRPr/>
            </a:pPr>
            <a:endParaRPr lang="en-US"/>
          </a:p>
        </p:txBody>
      </p:sp>
      <p:sp>
        <p:nvSpPr>
          <p:cNvPr id="1026" name="Rectangle 2"/>
          <p:cNvSpPr>
            <a:spLocks noGrp="1" noChangeArrowheads="1"/>
          </p:cNvSpPr>
          <p:nvPr>
            <p:ph type="sldNum"/>
          </p:nvPr>
        </p:nvSpPr>
        <p:spPr bwMode="auto">
          <a:xfrm>
            <a:off x="6553200" y="6248400"/>
            <a:ext cx="2130425" cy="454025"/>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r">
              <a:lnSpc>
                <a:spcPct val="100000"/>
              </a:lnSpc>
              <a:buFont typeface="Arial Black" pitchFamily="34" charset="0"/>
              <a:buNone/>
              <a:defRPr sz="1200">
                <a:solidFill>
                  <a:srgbClr val="000000"/>
                </a:solidFill>
                <a:latin typeface="Arial Black" pitchFamily="34" charset="0"/>
              </a:defRPr>
            </a:lvl1pPr>
          </a:lstStyle>
          <a:p>
            <a:pPr>
              <a:defRPr/>
            </a:pPr>
            <a:fld id="{D3F2AE4B-0AF0-4223-9C12-43F4839EB34B}" type="slidenum">
              <a:rPr lang="en-GB"/>
              <a:pPr>
                <a:defRPr/>
              </a:pPr>
              <a:t>‹#›</a:t>
            </a:fld>
            <a:endParaRPr lang="en-GB"/>
          </a:p>
        </p:txBody>
      </p:sp>
      <p:grpSp>
        <p:nvGrpSpPr>
          <p:cNvPr id="1028" name="Group 3"/>
          <p:cNvGrpSpPr>
            <a:grpSpLocks/>
          </p:cNvGrpSpPr>
          <p:nvPr/>
        </p:nvGrpSpPr>
        <p:grpSpPr bwMode="auto">
          <a:xfrm>
            <a:off x="0" y="0"/>
            <a:ext cx="9142413" cy="544513"/>
            <a:chOff x="0" y="0"/>
            <a:chExt cx="5759" cy="343"/>
          </a:xfrm>
        </p:grpSpPr>
        <p:sp>
          <p:nvSpPr>
            <p:cNvPr id="2" name="Rectangle 4"/>
            <p:cNvSpPr>
              <a:spLocks noChangeArrowheads="1"/>
            </p:cNvSpPr>
            <p:nvPr/>
          </p:nvSpPr>
          <p:spPr bwMode="auto">
            <a:xfrm>
              <a:off x="0" y="0"/>
              <a:ext cx="180" cy="336"/>
            </a:xfrm>
            <a:prstGeom prst="rect">
              <a:avLst/>
            </a:prstGeom>
            <a:gradFill rotWithShape="0">
              <a:gsLst>
                <a:gs pos="0">
                  <a:srgbClr val="CCCCE6"/>
                </a:gs>
                <a:gs pos="100000">
                  <a:srgbClr val="FFFFFF"/>
                </a:gs>
              </a:gsLst>
              <a:lin ang="10800000" scaled="1"/>
            </a:gradFill>
            <a:ln w="9525">
              <a:noFill/>
              <a:round/>
              <a:headEnd/>
              <a:tailEnd/>
            </a:ln>
            <a:effectLst/>
          </p:spPr>
          <p:txBody>
            <a:bodyPr wrap="none" anchor="ctr"/>
            <a:lstStyle/>
            <a:p>
              <a:pPr>
                <a:buFont typeface="Arial" charset="0"/>
                <a:buNone/>
                <a:defRPr/>
              </a:pPr>
              <a:endParaRPr lang="en-US">
                <a:latin typeface="Arial" charset="0"/>
              </a:endParaRPr>
            </a:p>
          </p:txBody>
        </p:sp>
        <p:sp>
          <p:nvSpPr>
            <p:cNvPr id="3" name="Rectangle 5"/>
            <p:cNvSpPr>
              <a:spLocks noChangeArrowheads="1"/>
            </p:cNvSpPr>
            <p:nvPr/>
          </p:nvSpPr>
          <p:spPr bwMode="auto">
            <a:xfrm>
              <a:off x="260" y="85"/>
              <a:ext cx="5500" cy="173"/>
            </a:xfrm>
            <a:prstGeom prst="rect">
              <a:avLst/>
            </a:prstGeom>
            <a:gradFill rotWithShape="0">
              <a:gsLst>
                <a:gs pos="0">
                  <a:srgbClr val="00007D"/>
                </a:gs>
                <a:gs pos="100000">
                  <a:srgbClr val="FFFFFF"/>
                </a:gs>
              </a:gsLst>
              <a:lin ang="10800000" scaled="1"/>
            </a:gradFill>
            <a:ln w="9525">
              <a:noFill/>
              <a:round/>
              <a:headEnd/>
              <a:tailEnd/>
            </a:ln>
            <a:effectLst/>
          </p:spPr>
          <p:txBody>
            <a:bodyPr wrap="none" anchor="ctr"/>
            <a:lstStyle/>
            <a:p>
              <a:pPr>
                <a:buFont typeface="Arial" charset="0"/>
                <a:buNone/>
                <a:defRPr/>
              </a:pPr>
              <a:endParaRPr lang="en-US">
                <a:latin typeface="Arial" charset="0"/>
              </a:endParaRPr>
            </a:p>
          </p:txBody>
        </p:sp>
        <p:sp>
          <p:nvSpPr>
            <p:cNvPr id="4" name="Rectangle 6"/>
            <p:cNvSpPr>
              <a:spLocks noChangeArrowheads="1"/>
            </p:cNvSpPr>
            <p:nvPr/>
          </p:nvSpPr>
          <p:spPr bwMode="auto">
            <a:xfrm>
              <a:off x="258" y="85"/>
              <a:ext cx="87" cy="89"/>
            </a:xfrm>
            <a:prstGeom prst="rect">
              <a:avLst/>
            </a:prstGeom>
            <a:solidFill>
              <a:srgbClr val="CCCCE6"/>
            </a:solidFill>
            <a:ln w="9525">
              <a:noFill/>
              <a:round/>
              <a:headEnd/>
              <a:tailEnd/>
            </a:ln>
            <a:effectLst/>
          </p:spPr>
          <p:txBody>
            <a:bodyPr wrap="none" anchor="ctr"/>
            <a:lstStyle/>
            <a:p>
              <a:pPr>
                <a:buFont typeface="Arial" charset="0"/>
                <a:buNone/>
                <a:defRPr/>
              </a:pPr>
              <a:endParaRPr lang="en-US">
                <a:latin typeface="Arial" charset="0"/>
              </a:endParaRPr>
            </a:p>
          </p:txBody>
        </p:sp>
        <p:sp>
          <p:nvSpPr>
            <p:cNvPr id="1031" name="Rectangle 7"/>
            <p:cNvSpPr>
              <a:spLocks noChangeArrowheads="1"/>
            </p:cNvSpPr>
            <p:nvPr/>
          </p:nvSpPr>
          <p:spPr bwMode="auto">
            <a:xfrm>
              <a:off x="345" y="0"/>
              <a:ext cx="88" cy="87"/>
            </a:xfrm>
            <a:prstGeom prst="rect">
              <a:avLst/>
            </a:prstGeom>
            <a:solidFill>
              <a:srgbClr val="CCCCE6"/>
            </a:solidFill>
            <a:ln w="9525">
              <a:noFill/>
              <a:round/>
              <a:headEnd/>
              <a:tailEnd/>
            </a:ln>
            <a:effectLst/>
          </p:spPr>
          <p:txBody>
            <a:bodyPr wrap="none" anchor="ctr"/>
            <a:lstStyle/>
            <a:p>
              <a:pPr>
                <a:buFont typeface="Arial" charset="0"/>
                <a:buNone/>
                <a:defRPr/>
              </a:pPr>
              <a:endParaRPr lang="en-US">
                <a:latin typeface="Arial" charset="0"/>
              </a:endParaRPr>
            </a:p>
          </p:txBody>
        </p:sp>
        <p:sp>
          <p:nvSpPr>
            <p:cNvPr id="1032" name="Rectangle 8"/>
            <p:cNvSpPr>
              <a:spLocks noChangeArrowheads="1"/>
            </p:cNvSpPr>
            <p:nvPr/>
          </p:nvSpPr>
          <p:spPr bwMode="auto">
            <a:xfrm>
              <a:off x="345" y="85"/>
              <a:ext cx="88" cy="89"/>
            </a:xfrm>
            <a:prstGeom prst="rect">
              <a:avLst/>
            </a:prstGeom>
            <a:solidFill>
              <a:srgbClr val="9999CC"/>
            </a:solidFill>
            <a:ln w="9525">
              <a:noFill/>
              <a:round/>
              <a:headEnd/>
              <a:tailEnd/>
            </a:ln>
            <a:effectLst/>
          </p:spPr>
          <p:txBody>
            <a:bodyPr wrap="none" anchor="ctr"/>
            <a:lstStyle/>
            <a:p>
              <a:pPr>
                <a:buFont typeface="Arial" charset="0"/>
                <a:buNone/>
                <a:defRPr/>
              </a:pPr>
              <a:endParaRPr lang="en-US">
                <a:latin typeface="Arial" charset="0"/>
              </a:endParaRPr>
            </a:p>
          </p:txBody>
        </p:sp>
        <p:sp>
          <p:nvSpPr>
            <p:cNvPr id="1033" name="Rectangle 9"/>
            <p:cNvSpPr>
              <a:spLocks noChangeArrowheads="1"/>
            </p:cNvSpPr>
            <p:nvPr/>
          </p:nvSpPr>
          <p:spPr bwMode="auto">
            <a:xfrm>
              <a:off x="173" y="173"/>
              <a:ext cx="86" cy="87"/>
            </a:xfrm>
            <a:prstGeom prst="rect">
              <a:avLst/>
            </a:prstGeom>
            <a:solidFill>
              <a:srgbClr val="CCCCE6"/>
            </a:solidFill>
            <a:ln w="9525">
              <a:noFill/>
              <a:round/>
              <a:headEnd/>
              <a:tailEnd/>
            </a:ln>
            <a:effectLst/>
          </p:spPr>
          <p:txBody>
            <a:bodyPr wrap="none" anchor="ctr"/>
            <a:lstStyle/>
            <a:p>
              <a:pPr>
                <a:buFont typeface="Arial" charset="0"/>
                <a:buNone/>
                <a:defRPr/>
              </a:pPr>
              <a:endParaRPr lang="en-US">
                <a:latin typeface="Arial" charset="0"/>
              </a:endParaRPr>
            </a:p>
          </p:txBody>
        </p:sp>
        <p:sp>
          <p:nvSpPr>
            <p:cNvPr id="1034" name="Rectangle 10"/>
            <p:cNvSpPr>
              <a:spLocks noChangeArrowheads="1"/>
            </p:cNvSpPr>
            <p:nvPr/>
          </p:nvSpPr>
          <p:spPr bwMode="auto">
            <a:xfrm>
              <a:off x="83" y="86"/>
              <a:ext cx="89" cy="87"/>
            </a:xfrm>
            <a:prstGeom prst="rect">
              <a:avLst/>
            </a:prstGeom>
            <a:solidFill>
              <a:srgbClr val="00007D"/>
            </a:solidFill>
            <a:ln w="9525">
              <a:noFill/>
              <a:round/>
              <a:headEnd/>
              <a:tailEnd/>
            </a:ln>
            <a:effectLst/>
          </p:spPr>
          <p:txBody>
            <a:bodyPr wrap="none" anchor="ctr"/>
            <a:lstStyle/>
            <a:p>
              <a:pPr>
                <a:buFont typeface="Arial" charset="0"/>
                <a:buNone/>
                <a:defRPr/>
              </a:pPr>
              <a:endParaRPr lang="en-US">
                <a:latin typeface="Arial" charset="0"/>
              </a:endParaRPr>
            </a:p>
          </p:txBody>
        </p:sp>
        <p:sp>
          <p:nvSpPr>
            <p:cNvPr id="1035" name="Rectangle 11"/>
            <p:cNvSpPr>
              <a:spLocks noChangeArrowheads="1"/>
            </p:cNvSpPr>
            <p:nvPr/>
          </p:nvSpPr>
          <p:spPr bwMode="auto">
            <a:xfrm>
              <a:off x="258" y="171"/>
              <a:ext cx="87" cy="87"/>
            </a:xfrm>
            <a:prstGeom prst="rect">
              <a:avLst/>
            </a:prstGeom>
            <a:solidFill>
              <a:srgbClr val="9999CC"/>
            </a:solidFill>
            <a:ln w="9525">
              <a:noFill/>
              <a:round/>
              <a:headEnd/>
              <a:tailEnd/>
            </a:ln>
            <a:effectLst/>
          </p:spPr>
          <p:txBody>
            <a:bodyPr wrap="none" anchor="ctr"/>
            <a:lstStyle/>
            <a:p>
              <a:pPr>
                <a:buFont typeface="Arial" charset="0"/>
                <a:buNone/>
                <a:defRPr/>
              </a:pPr>
              <a:endParaRPr lang="en-US">
                <a:latin typeface="Arial" charset="0"/>
              </a:endParaRPr>
            </a:p>
          </p:txBody>
        </p:sp>
        <p:sp>
          <p:nvSpPr>
            <p:cNvPr id="1036" name="Rectangle 12"/>
            <p:cNvSpPr>
              <a:spLocks noChangeArrowheads="1"/>
            </p:cNvSpPr>
            <p:nvPr/>
          </p:nvSpPr>
          <p:spPr bwMode="auto">
            <a:xfrm>
              <a:off x="173" y="258"/>
              <a:ext cx="86" cy="86"/>
            </a:xfrm>
            <a:prstGeom prst="rect">
              <a:avLst/>
            </a:prstGeom>
            <a:solidFill>
              <a:srgbClr val="9999CC"/>
            </a:solidFill>
            <a:ln w="9525">
              <a:noFill/>
              <a:round/>
              <a:headEnd/>
              <a:tailEnd/>
            </a:ln>
            <a:effectLst/>
          </p:spPr>
          <p:txBody>
            <a:bodyPr wrap="none" anchor="ctr"/>
            <a:lstStyle/>
            <a:p>
              <a:pPr>
                <a:buFont typeface="Arial" charset="0"/>
                <a:buNone/>
                <a:defRPr/>
              </a:pPr>
              <a:endParaRPr lang="en-US">
                <a:latin typeface="Arial" charset="0"/>
              </a:endParaRPr>
            </a:p>
          </p:txBody>
        </p:sp>
      </p:grpSp>
      <p:sp>
        <p:nvSpPr>
          <p:cNvPr id="1029" name="Rectangle 13"/>
          <p:cNvSpPr>
            <a:spLocks noGrp="1" noChangeArrowheads="1"/>
          </p:cNvSpPr>
          <p:nvPr>
            <p:ph type="title"/>
          </p:nvPr>
        </p:nvSpPr>
        <p:spPr bwMode="auto">
          <a:xfrm>
            <a:off x="457200" y="457200"/>
            <a:ext cx="8226425" cy="1370013"/>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a:t>Click to edit the title text format</a:t>
            </a:r>
          </a:p>
        </p:txBody>
      </p:sp>
      <p:sp>
        <p:nvSpPr>
          <p:cNvPr id="1030" name="Rectangle 14"/>
          <p:cNvSpPr>
            <a:spLocks noGrp="1" noChangeArrowheads="1"/>
          </p:cNvSpPr>
          <p:nvPr>
            <p:ph type="body" idx="1"/>
          </p:nvPr>
        </p:nvSpPr>
        <p:spPr bwMode="auto">
          <a:xfrm>
            <a:off x="457200" y="1981200"/>
            <a:ext cx="8226425" cy="3884613"/>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39" name="Rectangle 15"/>
          <p:cNvSpPr>
            <a:spLocks noGrp="1" noChangeArrowheads="1"/>
          </p:cNvSpPr>
          <p:nvPr>
            <p:ph type="dt"/>
          </p:nvPr>
        </p:nvSpPr>
        <p:spPr bwMode="auto">
          <a:xfrm>
            <a:off x="457200" y="6245225"/>
            <a:ext cx="2130425" cy="473075"/>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nSpc>
                <a:spcPct val="100000"/>
              </a:lnSpc>
              <a:buFont typeface="Arial" charset="0"/>
              <a:buNone/>
              <a:defRPr sz="1200">
                <a:solidFill>
                  <a:srgbClr val="000000"/>
                </a:solidFill>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ftr="0" dt="0"/>
  <p:txStyles>
    <p:titleStyle>
      <a:lvl1pPr algn="l" defTabSz="457200" rtl="0" eaLnBrk="0" fontAlgn="base" hangingPunct="0">
        <a:lnSpc>
          <a:spcPct val="87000"/>
        </a:lnSpc>
        <a:spcBef>
          <a:spcPct val="0"/>
        </a:spcBef>
        <a:spcAft>
          <a:spcPct val="0"/>
        </a:spcAft>
        <a:buClr>
          <a:srgbClr val="000000"/>
        </a:buClr>
        <a:buSzPct val="100000"/>
        <a:buFont typeface="Arial" pitchFamily="34" charset="0"/>
        <a:defRPr sz="4400">
          <a:solidFill>
            <a:srgbClr val="000000"/>
          </a:solidFill>
          <a:latin typeface="+mj-lt"/>
          <a:ea typeface="+mj-ea"/>
          <a:cs typeface="+mj-cs"/>
        </a:defRPr>
      </a:lvl1pPr>
      <a:lvl2pPr algn="l" defTabSz="457200" rtl="0" eaLnBrk="0" fontAlgn="base" hangingPunct="0">
        <a:lnSpc>
          <a:spcPct val="87000"/>
        </a:lnSpc>
        <a:spcBef>
          <a:spcPct val="0"/>
        </a:spcBef>
        <a:spcAft>
          <a:spcPct val="0"/>
        </a:spcAft>
        <a:buClr>
          <a:srgbClr val="000000"/>
        </a:buClr>
        <a:buSzPct val="100000"/>
        <a:buFont typeface="Arial" pitchFamily="34" charset="0"/>
        <a:defRPr sz="4400">
          <a:solidFill>
            <a:srgbClr val="000000"/>
          </a:solidFill>
          <a:latin typeface="Arial" charset="0"/>
          <a:ea typeface="ＭＳ Ｐゴシック" pitchFamily="34" charset="-128"/>
        </a:defRPr>
      </a:lvl2pPr>
      <a:lvl3pPr algn="l" defTabSz="457200" rtl="0" eaLnBrk="0" fontAlgn="base" hangingPunct="0">
        <a:lnSpc>
          <a:spcPct val="87000"/>
        </a:lnSpc>
        <a:spcBef>
          <a:spcPct val="0"/>
        </a:spcBef>
        <a:spcAft>
          <a:spcPct val="0"/>
        </a:spcAft>
        <a:buClr>
          <a:srgbClr val="000000"/>
        </a:buClr>
        <a:buSzPct val="100000"/>
        <a:buFont typeface="Arial" pitchFamily="34" charset="0"/>
        <a:defRPr sz="4400">
          <a:solidFill>
            <a:srgbClr val="000000"/>
          </a:solidFill>
          <a:latin typeface="Arial" charset="0"/>
          <a:ea typeface="ＭＳ Ｐゴシック" pitchFamily="34" charset="-128"/>
        </a:defRPr>
      </a:lvl3pPr>
      <a:lvl4pPr algn="l" defTabSz="457200" rtl="0" eaLnBrk="0" fontAlgn="base" hangingPunct="0">
        <a:lnSpc>
          <a:spcPct val="87000"/>
        </a:lnSpc>
        <a:spcBef>
          <a:spcPct val="0"/>
        </a:spcBef>
        <a:spcAft>
          <a:spcPct val="0"/>
        </a:spcAft>
        <a:buClr>
          <a:srgbClr val="000000"/>
        </a:buClr>
        <a:buSzPct val="100000"/>
        <a:buFont typeface="Arial" pitchFamily="34" charset="0"/>
        <a:defRPr sz="4400">
          <a:solidFill>
            <a:srgbClr val="000000"/>
          </a:solidFill>
          <a:latin typeface="Arial" charset="0"/>
          <a:ea typeface="ＭＳ Ｐゴシック" pitchFamily="34" charset="-128"/>
        </a:defRPr>
      </a:lvl4pPr>
      <a:lvl5pPr algn="l" defTabSz="457200" rtl="0" eaLnBrk="0" fontAlgn="base" hangingPunct="0">
        <a:lnSpc>
          <a:spcPct val="87000"/>
        </a:lnSpc>
        <a:spcBef>
          <a:spcPct val="0"/>
        </a:spcBef>
        <a:spcAft>
          <a:spcPct val="0"/>
        </a:spcAft>
        <a:buClr>
          <a:srgbClr val="000000"/>
        </a:buClr>
        <a:buSzPct val="100000"/>
        <a:buFont typeface="Arial" pitchFamily="34" charset="0"/>
        <a:defRPr sz="4400">
          <a:solidFill>
            <a:srgbClr val="000000"/>
          </a:solidFill>
          <a:latin typeface="Arial" charset="0"/>
          <a:ea typeface="ＭＳ Ｐゴシック" pitchFamily="34" charset="-128"/>
        </a:defRPr>
      </a:lvl5pPr>
      <a:lvl6pPr marL="457200" algn="l" defTabSz="457200" rtl="0" fontAlgn="base">
        <a:lnSpc>
          <a:spcPct val="87000"/>
        </a:lnSpc>
        <a:spcBef>
          <a:spcPct val="0"/>
        </a:spcBef>
        <a:spcAft>
          <a:spcPct val="0"/>
        </a:spcAft>
        <a:buClr>
          <a:srgbClr val="000000"/>
        </a:buClr>
        <a:buSzPct val="100000"/>
        <a:buFont typeface="Arial" charset="0"/>
        <a:defRPr sz="4400">
          <a:solidFill>
            <a:srgbClr val="000000"/>
          </a:solidFill>
          <a:latin typeface="Arial" charset="0"/>
          <a:ea typeface="ＭＳ Ｐゴシック" pitchFamily="34" charset="-128"/>
        </a:defRPr>
      </a:lvl6pPr>
      <a:lvl7pPr marL="914400" algn="l" defTabSz="457200" rtl="0" fontAlgn="base">
        <a:lnSpc>
          <a:spcPct val="87000"/>
        </a:lnSpc>
        <a:spcBef>
          <a:spcPct val="0"/>
        </a:spcBef>
        <a:spcAft>
          <a:spcPct val="0"/>
        </a:spcAft>
        <a:buClr>
          <a:srgbClr val="000000"/>
        </a:buClr>
        <a:buSzPct val="100000"/>
        <a:buFont typeface="Arial" charset="0"/>
        <a:defRPr sz="4400">
          <a:solidFill>
            <a:srgbClr val="000000"/>
          </a:solidFill>
          <a:latin typeface="Arial" charset="0"/>
          <a:ea typeface="ＭＳ Ｐゴシック" pitchFamily="34" charset="-128"/>
        </a:defRPr>
      </a:lvl7pPr>
      <a:lvl8pPr marL="1371600" algn="l" defTabSz="457200" rtl="0" fontAlgn="base">
        <a:lnSpc>
          <a:spcPct val="87000"/>
        </a:lnSpc>
        <a:spcBef>
          <a:spcPct val="0"/>
        </a:spcBef>
        <a:spcAft>
          <a:spcPct val="0"/>
        </a:spcAft>
        <a:buClr>
          <a:srgbClr val="000000"/>
        </a:buClr>
        <a:buSzPct val="100000"/>
        <a:buFont typeface="Arial" charset="0"/>
        <a:defRPr sz="4400">
          <a:solidFill>
            <a:srgbClr val="000000"/>
          </a:solidFill>
          <a:latin typeface="Arial" charset="0"/>
          <a:ea typeface="ＭＳ Ｐゴシック" pitchFamily="34" charset="-128"/>
        </a:defRPr>
      </a:lvl8pPr>
      <a:lvl9pPr marL="1828800" algn="l" defTabSz="457200" rtl="0" fontAlgn="base">
        <a:lnSpc>
          <a:spcPct val="87000"/>
        </a:lnSpc>
        <a:spcBef>
          <a:spcPct val="0"/>
        </a:spcBef>
        <a:spcAft>
          <a:spcPct val="0"/>
        </a:spcAft>
        <a:buClr>
          <a:srgbClr val="000000"/>
        </a:buClr>
        <a:buSzPct val="100000"/>
        <a:buFont typeface="Arial" charset="0"/>
        <a:defRPr sz="4400">
          <a:solidFill>
            <a:srgbClr val="000000"/>
          </a:solidFill>
          <a:latin typeface="Arial" charset="0"/>
          <a:ea typeface="ＭＳ Ｐゴシック" pitchFamily="34" charset="-128"/>
        </a:defRPr>
      </a:lvl9pPr>
    </p:titleStyle>
    <p:bodyStyle>
      <a:lvl1pPr marL="339725" indent="-339725" algn="l" defTabSz="457200" rtl="0" eaLnBrk="0" fontAlgn="base" hangingPunct="0">
        <a:lnSpc>
          <a:spcPct val="87000"/>
        </a:lnSpc>
        <a:spcBef>
          <a:spcPts val="600"/>
        </a:spcBef>
        <a:spcAft>
          <a:spcPct val="0"/>
        </a:spcAft>
        <a:buClr>
          <a:srgbClr val="00007D"/>
        </a:buClr>
        <a:buSzPct val="75000"/>
        <a:buFont typeface="Wingdings" pitchFamily="2" charset="2"/>
        <a:buChar char=""/>
        <a:defRPr sz="2400">
          <a:solidFill>
            <a:srgbClr val="000000"/>
          </a:solidFill>
          <a:latin typeface="+mn-lt"/>
          <a:ea typeface="+mn-ea"/>
          <a:cs typeface="+mn-cs"/>
        </a:defRPr>
      </a:lvl1pPr>
      <a:lvl2pPr marL="739775" indent="-282575" algn="l" defTabSz="457200" rtl="0" eaLnBrk="0" fontAlgn="base" hangingPunct="0">
        <a:lnSpc>
          <a:spcPct val="87000"/>
        </a:lnSpc>
        <a:spcBef>
          <a:spcPts val="600"/>
        </a:spcBef>
        <a:spcAft>
          <a:spcPct val="0"/>
        </a:spcAft>
        <a:buClr>
          <a:srgbClr val="9999CC"/>
        </a:buClr>
        <a:buSzPct val="80000"/>
        <a:buFont typeface="Wingdings" pitchFamily="2" charset="2"/>
        <a:buChar char=""/>
        <a:defRPr sz="2400">
          <a:solidFill>
            <a:srgbClr val="000000"/>
          </a:solidFill>
          <a:latin typeface="+mn-lt"/>
          <a:ea typeface="+mn-ea"/>
        </a:defRPr>
      </a:lvl2pPr>
      <a:lvl3pPr marL="1143000" indent="-228600" algn="l" defTabSz="457200" rtl="0" eaLnBrk="0" fontAlgn="base" hangingPunct="0">
        <a:lnSpc>
          <a:spcPct val="87000"/>
        </a:lnSpc>
        <a:spcBef>
          <a:spcPts val="600"/>
        </a:spcBef>
        <a:spcAft>
          <a:spcPct val="0"/>
        </a:spcAft>
        <a:buClr>
          <a:srgbClr val="00007D"/>
        </a:buClr>
        <a:buSzPct val="65000"/>
        <a:buFont typeface="Wingdings" pitchFamily="2" charset="2"/>
        <a:buChar char=""/>
        <a:defRPr sz="2400">
          <a:solidFill>
            <a:srgbClr val="000000"/>
          </a:solidFill>
          <a:latin typeface="+mn-lt"/>
          <a:ea typeface="+mn-ea"/>
        </a:defRPr>
      </a:lvl3pPr>
      <a:lvl4pPr marL="1600200" indent="-228600" algn="l" defTabSz="457200" rtl="0" eaLnBrk="0" fontAlgn="base" hangingPunct="0">
        <a:lnSpc>
          <a:spcPct val="87000"/>
        </a:lnSpc>
        <a:spcBef>
          <a:spcPts val="500"/>
        </a:spcBef>
        <a:spcAft>
          <a:spcPct val="0"/>
        </a:spcAft>
        <a:buClr>
          <a:srgbClr val="9999CC"/>
        </a:buClr>
        <a:buSzPct val="70000"/>
        <a:buFont typeface="Wingdings" pitchFamily="2" charset="2"/>
        <a:buChar char=""/>
        <a:defRPr sz="2000">
          <a:solidFill>
            <a:srgbClr val="000000"/>
          </a:solidFill>
          <a:latin typeface="+mn-lt"/>
          <a:ea typeface="+mn-ea"/>
        </a:defRPr>
      </a:lvl4pPr>
      <a:lvl5pPr marL="2057400" indent="-228600" algn="l" defTabSz="457200" rtl="0" eaLnBrk="0" fontAlgn="base" hangingPunct="0">
        <a:lnSpc>
          <a:spcPct val="87000"/>
        </a:lnSpc>
        <a:spcBef>
          <a:spcPts val="500"/>
        </a:spcBef>
        <a:spcAft>
          <a:spcPct val="0"/>
        </a:spcAft>
        <a:buClr>
          <a:srgbClr val="9999CC"/>
        </a:buClr>
        <a:buSzPct val="100000"/>
        <a:buFont typeface="Wingdings" pitchFamily="2" charset="2"/>
        <a:buChar char=""/>
        <a:defRPr sz="2000">
          <a:solidFill>
            <a:srgbClr val="000000"/>
          </a:solidFill>
          <a:latin typeface="+mn-lt"/>
          <a:ea typeface="+mn-ea"/>
        </a:defRPr>
      </a:lvl5pPr>
      <a:lvl6pPr marL="2514600" indent="-228600" algn="l" defTabSz="457200" rtl="0" fontAlgn="base">
        <a:lnSpc>
          <a:spcPct val="87000"/>
        </a:lnSpc>
        <a:spcBef>
          <a:spcPts val="500"/>
        </a:spcBef>
        <a:spcAft>
          <a:spcPct val="0"/>
        </a:spcAft>
        <a:buClr>
          <a:srgbClr val="9999CC"/>
        </a:buClr>
        <a:buSzPct val="100000"/>
        <a:buFont typeface="Wingdings" pitchFamily="2" charset="2"/>
        <a:buChar char=""/>
        <a:defRPr sz="2000">
          <a:solidFill>
            <a:srgbClr val="000000"/>
          </a:solidFill>
          <a:latin typeface="+mn-lt"/>
          <a:ea typeface="+mn-ea"/>
        </a:defRPr>
      </a:lvl6pPr>
      <a:lvl7pPr marL="2971800" indent="-228600" algn="l" defTabSz="457200" rtl="0" fontAlgn="base">
        <a:lnSpc>
          <a:spcPct val="87000"/>
        </a:lnSpc>
        <a:spcBef>
          <a:spcPts val="500"/>
        </a:spcBef>
        <a:spcAft>
          <a:spcPct val="0"/>
        </a:spcAft>
        <a:buClr>
          <a:srgbClr val="9999CC"/>
        </a:buClr>
        <a:buSzPct val="100000"/>
        <a:buFont typeface="Wingdings" pitchFamily="2" charset="2"/>
        <a:buChar char=""/>
        <a:defRPr sz="2000">
          <a:solidFill>
            <a:srgbClr val="000000"/>
          </a:solidFill>
          <a:latin typeface="+mn-lt"/>
          <a:ea typeface="+mn-ea"/>
        </a:defRPr>
      </a:lvl7pPr>
      <a:lvl8pPr marL="3429000" indent="-228600" algn="l" defTabSz="457200" rtl="0" fontAlgn="base">
        <a:lnSpc>
          <a:spcPct val="87000"/>
        </a:lnSpc>
        <a:spcBef>
          <a:spcPts val="500"/>
        </a:spcBef>
        <a:spcAft>
          <a:spcPct val="0"/>
        </a:spcAft>
        <a:buClr>
          <a:srgbClr val="9999CC"/>
        </a:buClr>
        <a:buSzPct val="100000"/>
        <a:buFont typeface="Wingdings" pitchFamily="2" charset="2"/>
        <a:buChar char=""/>
        <a:defRPr sz="2000">
          <a:solidFill>
            <a:srgbClr val="000000"/>
          </a:solidFill>
          <a:latin typeface="+mn-lt"/>
          <a:ea typeface="+mn-ea"/>
        </a:defRPr>
      </a:lvl8pPr>
      <a:lvl9pPr marL="3886200" indent="-228600" algn="l" defTabSz="457200" rtl="0" fontAlgn="base">
        <a:lnSpc>
          <a:spcPct val="87000"/>
        </a:lnSpc>
        <a:spcBef>
          <a:spcPts val="500"/>
        </a:spcBef>
        <a:spcAft>
          <a:spcPct val="0"/>
        </a:spcAft>
        <a:buClr>
          <a:srgbClr val="9999CC"/>
        </a:buClr>
        <a:buSzPct val="100000"/>
        <a:buFont typeface="Wingdings" pitchFamily="2" charset="2"/>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417320"/>
            <a:ext cx="8046720" cy="1005840"/>
          </a:xfrm>
          <a:prstGeom prst="rect">
            <a:avLst/>
          </a:prstGeom>
          <a:noFill/>
        </p:spPr>
        <p:txBody>
          <a:bodyPr wrap="square">
            <a:spAutoFit/>
          </a:bodyPr>
          <a:lstStyle/>
          <a:p>
            <a:pPr algn="ctr">
              <a:spcAft>
                <a:spcPts val="1000"/>
              </a:spcAft>
            </a:pPr>
            <a:r>
              <a:rPr sz="5000" b="1" i="0">
                <a:solidFill>
                  <a:srgbClr val="2A3A5C"/>
                </a:solidFill>
                <a:latin typeface="Times New Roman"/>
              </a:rPr>
              <a:t>APOLLO-M</a:t>
            </a:r>
          </a:p>
        </p:txBody>
      </p:sp>
      <p:sp>
        <p:nvSpPr>
          <p:cNvPr id="3" name="TextBox 2"/>
          <p:cNvSpPr txBox="1"/>
          <p:nvPr/>
        </p:nvSpPr>
        <p:spPr>
          <a:xfrm>
            <a:off x="822960" y="2395728"/>
            <a:ext cx="7498079" cy="822960"/>
          </a:xfrm>
          <a:prstGeom prst="rect">
            <a:avLst/>
          </a:prstGeom>
          <a:noFill/>
        </p:spPr>
        <p:txBody>
          <a:bodyPr wrap="square">
            <a:spAutoFit/>
          </a:bodyPr>
          <a:lstStyle/>
          <a:p>
            <a:pPr algn="ctr">
              <a:spcAft>
                <a:spcPts val="1000"/>
              </a:spcAft>
            </a:pPr>
            <a:r>
              <a:rPr sz="1900" b="0" i="0">
                <a:solidFill>
                  <a:srgbClr val="33415C"/>
                </a:solidFill>
                <a:latin typeface="Times New Roman"/>
              </a:rPr>
              <a:t>An AI Framework for Forecasting Instability in Digital Communities</a:t>
            </a:r>
          </a:p>
        </p:txBody>
      </p:sp>
      <p:sp>
        <p:nvSpPr>
          <p:cNvPr id="4" name="Rectangle 3"/>
          <p:cNvSpPr/>
          <p:nvPr/>
        </p:nvSpPr>
        <p:spPr>
          <a:xfrm>
            <a:off x="3657600" y="3246120"/>
            <a:ext cx="18288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520440"/>
            <a:ext cx="8046720" cy="1371600"/>
          </a:xfrm>
          <a:prstGeom prst="rect">
            <a:avLst/>
          </a:prstGeom>
          <a:noFill/>
        </p:spPr>
        <p:txBody>
          <a:bodyPr wrap="square">
            <a:spAutoFit/>
          </a:bodyPr>
          <a:lstStyle/>
          <a:p>
            <a:pPr algn="ctr">
              <a:spcAft>
                <a:spcPts val="800"/>
              </a:spcAft>
            </a:pPr>
            <a:r>
              <a:rPr sz="1500" b="0" i="0">
                <a:solidFill>
                  <a:srgbClr val="6B7A99"/>
                </a:solidFill>
                <a:latin typeface="Times New Roman"/>
              </a:rPr>
              <a:t>Kashaf Fatima  (84381)      Rizwan Saleem  (84010)      Aaqib Mehmood  (82081)</a:t>
            </a:r>
          </a:p>
          <a:p>
            <a:pPr algn="ctr">
              <a:spcAft>
                <a:spcPts val="800"/>
              </a:spcAft>
            </a:pPr>
            <a:r>
              <a:rPr sz="1500" b="0" i="0">
                <a:solidFill>
                  <a:srgbClr val="6B7A99"/>
                </a:solidFill>
                <a:latin typeface="Times New Roman"/>
              </a:rPr>
              <a:t>Supervisor:  Mr. Saghir Ahmed</a:t>
            </a:r>
          </a:p>
          <a:p>
            <a:pPr algn="ctr">
              <a:spcAft>
                <a:spcPts val="800"/>
              </a:spcAft>
            </a:pPr>
            <a:r>
              <a:rPr sz="1500" b="0" i="0">
                <a:solidFill>
                  <a:srgbClr val="6B7A99"/>
                </a:solidFill>
                <a:latin typeface="Times New Roman"/>
              </a:rPr>
              <a:t>Mid-Year Evaluation  ·  Final Year Project</a:t>
            </a:r>
          </a:p>
        </p:txBody>
      </p:sp>
      <p:sp>
        <p:nvSpPr>
          <p:cNvPr id="6" name="TextBox 5"/>
          <p:cNvSpPr txBox="1"/>
          <p:nvPr/>
        </p:nvSpPr>
        <p:spPr>
          <a:xfrm>
            <a:off x="548640" y="4983480"/>
            <a:ext cx="8046720" cy="457200"/>
          </a:xfrm>
          <a:prstGeom prst="rect">
            <a:avLst/>
          </a:prstGeom>
          <a:noFill/>
        </p:spPr>
        <p:txBody>
          <a:bodyPr wrap="square">
            <a:spAutoFit/>
          </a:bodyPr>
          <a:lstStyle/>
          <a:p>
            <a:pPr algn="ctr">
              <a:spcAft>
                <a:spcPts val="1000"/>
              </a:spcAft>
            </a:pPr>
            <a:r>
              <a:rPr sz="1400" b="1" i="0">
                <a:solidFill>
                  <a:srgbClr val="7FA8D4"/>
                </a:solidFill>
                <a:latin typeface="Times New Roman"/>
              </a:rPr>
              <a:t>Live:  apollo-m.streamlit.app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What We Will Cover</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216151"/>
            <a:ext cx="384048" cy="384048"/>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1</a:t>
            </a:r>
          </a:p>
        </p:txBody>
      </p:sp>
      <p:sp>
        <p:nvSpPr>
          <p:cNvPr id="5" name="TextBox 4"/>
          <p:cNvSpPr txBox="1"/>
          <p:nvPr/>
        </p:nvSpPr>
        <p:spPr>
          <a:xfrm>
            <a:off x="1005840" y="1197863"/>
            <a:ext cx="3291840" cy="457200"/>
          </a:xfrm>
          <a:prstGeom prst="rect">
            <a:avLst/>
          </a:prstGeom>
          <a:noFill/>
        </p:spPr>
        <p:txBody>
          <a:bodyPr wrap="square">
            <a:spAutoFit/>
          </a:bodyPr>
          <a:lstStyle/>
          <a:p>
            <a:pPr algn="l">
              <a:spcAft>
                <a:spcPts val="1000"/>
              </a:spcAft>
            </a:pPr>
            <a:r>
              <a:rPr sz="1650" b="0" i="0">
                <a:solidFill>
                  <a:srgbClr val="33415C"/>
                </a:solidFill>
                <a:latin typeface="Times New Roman"/>
              </a:rPr>
              <a:t>The problem we are solving</a:t>
            </a:r>
          </a:p>
        </p:txBody>
      </p:sp>
      <p:sp>
        <p:nvSpPr>
          <p:cNvPr id="6" name="Rounded Rectangle 5"/>
          <p:cNvSpPr/>
          <p:nvPr/>
        </p:nvSpPr>
        <p:spPr>
          <a:xfrm>
            <a:off x="4617720" y="1216151"/>
            <a:ext cx="384048" cy="384048"/>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6</a:t>
            </a:r>
          </a:p>
        </p:txBody>
      </p:sp>
      <p:sp>
        <p:nvSpPr>
          <p:cNvPr id="7" name="TextBox 6"/>
          <p:cNvSpPr txBox="1"/>
          <p:nvPr/>
        </p:nvSpPr>
        <p:spPr>
          <a:xfrm>
            <a:off x="5120640" y="1197863"/>
            <a:ext cx="3566160" cy="457200"/>
          </a:xfrm>
          <a:prstGeom prst="rect">
            <a:avLst/>
          </a:prstGeom>
          <a:noFill/>
        </p:spPr>
        <p:txBody>
          <a:bodyPr wrap="square">
            <a:spAutoFit/>
          </a:bodyPr>
          <a:lstStyle/>
          <a:p>
            <a:pPr algn="l">
              <a:spcAft>
                <a:spcPts val="1000"/>
              </a:spcAft>
            </a:pPr>
            <a:r>
              <a:rPr sz="1650" b="0" i="0">
                <a:solidFill>
                  <a:srgbClr val="33415C"/>
                </a:solidFill>
                <a:latin typeface="Times New Roman"/>
              </a:rPr>
              <a:t>Running on real Reddit data</a:t>
            </a:r>
          </a:p>
        </p:txBody>
      </p:sp>
      <p:sp>
        <p:nvSpPr>
          <p:cNvPr id="8" name="Rounded Rectangle 7"/>
          <p:cNvSpPr/>
          <p:nvPr/>
        </p:nvSpPr>
        <p:spPr>
          <a:xfrm>
            <a:off x="502920" y="2039112"/>
            <a:ext cx="384048" cy="384048"/>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2</a:t>
            </a:r>
          </a:p>
        </p:txBody>
      </p:sp>
      <p:sp>
        <p:nvSpPr>
          <p:cNvPr id="9" name="TextBox 8"/>
          <p:cNvSpPr txBox="1"/>
          <p:nvPr/>
        </p:nvSpPr>
        <p:spPr>
          <a:xfrm>
            <a:off x="1005840" y="2020824"/>
            <a:ext cx="3291840" cy="457200"/>
          </a:xfrm>
          <a:prstGeom prst="rect">
            <a:avLst/>
          </a:prstGeom>
          <a:noFill/>
        </p:spPr>
        <p:txBody>
          <a:bodyPr wrap="square">
            <a:spAutoFit/>
          </a:bodyPr>
          <a:lstStyle/>
          <a:p>
            <a:pPr algn="l">
              <a:spcAft>
                <a:spcPts val="1000"/>
              </a:spcAft>
            </a:pPr>
            <a:r>
              <a:rPr sz="1650" b="0" i="0">
                <a:solidFill>
                  <a:srgbClr val="33415C"/>
                </a:solidFill>
                <a:latin typeface="Times New Roman"/>
              </a:rPr>
              <a:t>Our idea</a:t>
            </a:r>
          </a:p>
        </p:txBody>
      </p:sp>
      <p:sp>
        <p:nvSpPr>
          <p:cNvPr id="10" name="Rounded Rectangle 9"/>
          <p:cNvSpPr/>
          <p:nvPr/>
        </p:nvSpPr>
        <p:spPr>
          <a:xfrm>
            <a:off x="4617720" y="2039112"/>
            <a:ext cx="384048" cy="384048"/>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7</a:t>
            </a:r>
          </a:p>
        </p:txBody>
      </p:sp>
      <p:sp>
        <p:nvSpPr>
          <p:cNvPr id="11" name="TextBox 10"/>
          <p:cNvSpPr txBox="1"/>
          <p:nvPr/>
        </p:nvSpPr>
        <p:spPr>
          <a:xfrm>
            <a:off x="5120640" y="2020824"/>
            <a:ext cx="3566160" cy="457200"/>
          </a:xfrm>
          <a:prstGeom prst="rect">
            <a:avLst/>
          </a:prstGeom>
          <a:noFill/>
        </p:spPr>
        <p:txBody>
          <a:bodyPr wrap="square">
            <a:spAutoFit/>
          </a:bodyPr>
          <a:lstStyle/>
          <a:p>
            <a:pPr algn="l">
              <a:spcAft>
                <a:spcPts val="1000"/>
              </a:spcAft>
            </a:pPr>
            <a:r>
              <a:rPr sz="1650" b="0" i="0">
                <a:solidFill>
                  <a:srgbClr val="33415C"/>
                </a:solidFill>
                <a:latin typeface="Times New Roman"/>
              </a:rPr>
              <a:t>Who would use it, and why</a:t>
            </a:r>
          </a:p>
        </p:txBody>
      </p:sp>
      <p:sp>
        <p:nvSpPr>
          <p:cNvPr id="12" name="Rounded Rectangle 11"/>
          <p:cNvSpPr/>
          <p:nvPr/>
        </p:nvSpPr>
        <p:spPr>
          <a:xfrm>
            <a:off x="502920" y="2862072"/>
            <a:ext cx="384048" cy="384048"/>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3</a:t>
            </a:r>
          </a:p>
        </p:txBody>
      </p:sp>
      <p:sp>
        <p:nvSpPr>
          <p:cNvPr id="13" name="TextBox 12"/>
          <p:cNvSpPr txBox="1"/>
          <p:nvPr/>
        </p:nvSpPr>
        <p:spPr>
          <a:xfrm>
            <a:off x="1005840" y="2843784"/>
            <a:ext cx="3291840" cy="457200"/>
          </a:xfrm>
          <a:prstGeom prst="rect">
            <a:avLst/>
          </a:prstGeom>
          <a:noFill/>
        </p:spPr>
        <p:txBody>
          <a:bodyPr wrap="square">
            <a:spAutoFit/>
          </a:bodyPr>
          <a:lstStyle/>
          <a:p>
            <a:pPr algn="l">
              <a:spcAft>
                <a:spcPts val="1000"/>
              </a:spcAft>
            </a:pPr>
            <a:r>
              <a:rPr sz="1650" b="0" i="0">
                <a:solidFill>
                  <a:srgbClr val="33415C"/>
                </a:solidFill>
                <a:latin typeface="Times New Roman"/>
              </a:rPr>
              <a:t>What we built</a:t>
            </a:r>
          </a:p>
        </p:txBody>
      </p:sp>
      <p:sp>
        <p:nvSpPr>
          <p:cNvPr id="14" name="Rounded Rectangle 13"/>
          <p:cNvSpPr/>
          <p:nvPr/>
        </p:nvSpPr>
        <p:spPr>
          <a:xfrm>
            <a:off x="4617720" y="2862072"/>
            <a:ext cx="384048" cy="384048"/>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8</a:t>
            </a:r>
          </a:p>
        </p:txBody>
      </p:sp>
      <p:sp>
        <p:nvSpPr>
          <p:cNvPr id="15" name="TextBox 14"/>
          <p:cNvSpPr txBox="1"/>
          <p:nvPr/>
        </p:nvSpPr>
        <p:spPr>
          <a:xfrm>
            <a:off x="5120640" y="2843784"/>
            <a:ext cx="3566160" cy="457200"/>
          </a:xfrm>
          <a:prstGeom prst="rect">
            <a:avLst/>
          </a:prstGeom>
          <a:noFill/>
        </p:spPr>
        <p:txBody>
          <a:bodyPr wrap="square">
            <a:spAutoFit/>
          </a:bodyPr>
          <a:lstStyle/>
          <a:p>
            <a:pPr algn="l">
              <a:spcAft>
                <a:spcPts val="1000"/>
              </a:spcAft>
            </a:pPr>
            <a:r>
              <a:rPr sz="1650" b="0" i="0">
                <a:solidFill>
                  <a:srgbClr val="33415C"/>
                </a:solidFill>
                <a:latin typeface="Times New Roman"/>
              </a:rPr>
              <a:t>Industry and the SDGs</a:t>
            </a:r>
          </a:p>
        </p:txBody>
      </p:sp>
      <p:sp>
        <p:nvSpPr>
          <p:cNvPr id="16" name="Rounded Rectangle 15"/>
          <p:cNvSpPr/>
          <p:nvPr/>
        </p:nvSpPr>
        <p:spPr>
          <a:xfrm>
            <a:off x="502920" y="3685032"/>
            <a:ext cx="384048" cy="384048"/>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4</a:t>
            </a:r>
          </a:p>
        </p:txBody>
      </p:sp>
      <p:sp>
        <p:nvSpPr>
          <p:cNvPr id="17" name="TextBox 16"/>
          <p:cNvSpPr txBox="1"/>
          <p:nvPr/>
        </p:nvSpPr>
        <p:spPr>
          <a:xfrm>
            <a:off x="1005840" y="3666744"/>
            <a:ext cx="3291840" cy="457200"/>
          </a:xfrm>
          <a:prstGeom prst="rect">
            <a:avLst/>
          </a:prstGeom>
          <a:noFill/>
        </p:spPr>
        <p:txBody>
          <a:bodyPr wrap="square">
            <a:spAutoFit/>
          </a:bodyPr>
          <a:lstStyle/>
          <a:p>
            <a:pPr algn="l">
              <a:spcAft>
                <a:spcPts val="1000"/>
              </a:spcAft>
            </a:pPr>
            <a:r>
              <a:rPr sz="1650" b="0" i="0">
                <a:solidFill>
                  <a:srgbClr val="33415C"/>
                </a:solidFill>
                <a:latin typeface="Times New Roman"/>
              </a:rPr>
              <a:t>Our key finding</a:t>
            </a:r>
          </a:p>
        </p:txBody>
      </p:sp>
      <p:sp>
        <p:nvSpPr>
          <p:cNvPr id="18" name="Rounded Rectangle 17"/>
          <p:cNvSpPr/>
          <p:nvPr/>
        </p:nvSpPr>
        <p:spPr>
          <a:xfrm>
            <a:off x="4617720" y="3685032"/>
            <a:ext cx="384048" cy="384048"/>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9</a:t>
            </a:r>
          </a:p>
        </p:txBody>
      </p:sp>
      <p:sp>
        <p:nvSpPr>
          <p:cNvPr id="19" name="TextBox 18"/>
          <p:cNvSpPr txBox="1"/>
          <p:nvPr/>
        </p:nvSpPr>
        <p:spPr>
          <a:xfrm>
            <a:off x="5120640" y="3666744"/>
            <a:ext cx="3566160" cy="457200"/>
          </a:xfrm>
          <a:prstGeom prst="rect">
            <a:avLst/>
          </a:prstGeom>
          <a:noFill/>
        </p:spPr>
        <p:txBody>
          <a:bodyPr wrap="square">
            <a:spAutoFit/>
          </a:bodyPr>
          <a:lstStyle/>
          <a:p>
            <a:pPr algn="l">
              <a:spcAft>
                <a:spcPts val="1000"/>
              </a:spcAft>
            </a:pPr>
            <a:r>
              <a:rPr sz="1650" b="0" i="0">
                <a:solidFill>
                  <a:srgbClr val="33415C"/>
                </a:solidFill>
                <a:latin typeface="Times New Roman"/>
              </a:rPr>
              <a:t>Timeline and limitations</a:t>
            </a:r>
          </a:p>
        </p:txBody>
      </p:sp>
      <p:sp>
        <p:nvSpPr>
          <p:cNvPr id="20" name="Rounded Rectangle 19"/>
          <p:cNvSpPr/>
          <p:nvPr/>
        </p:nvSpPr>
        <p:spPr>
          <a:xfrm>
            <a:off x="502920" y="4507992"/>
            <a:ext cx="384048" cy="384048"/>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5</a:t>
            </a:r>
          </a:p>
        </p:txBody>
      </p:sp>
      <p:sp>
        <p:nvSpPr>
          <p:cNvPr id="21" name="TextBox 20"/>
          <p:cNvSpPr txBox="1"/>
          <p:nvPr/>
        </p:nvSpPr>
        <p:spPr>
          <a:xfrm>
            <a:off x="1005840" y="4489704"/>
            <a:ext cx="3291840" cy="457200"/>
          </a:xfrm>
          <a:prstGeom prst="rect">
            <a:avLst/>
          </a:prstGeom>
          <a:noFill/>
        </p:spPr>
        <p:txBody>
          <a:bodyPr wrap="square">
            <a:spAutoFit/>
          </a:bodyPr>
          <a:lstStyle/>
          <a:p>
            <a:pPr algn="l">
              <a:spcAft>
                <a:spcPts val="1000"/>
              </a:spcAft>
            </a:pPr>
            <a:r>
              <a:rPr sz="1650" b="0" i="0">
                <a:solidFill>
                  <a:srgbClr val="33415C"/>
                </a:solidFill>
                <a:latin typeface="Times New Roman"/>
              </a:rPr>
              <a:t>Does it actually predict?</a:t>
            </a:r>
          </a:p>
        </p:txBody>
      </p:sp>
      <p:sp>
        <p:nvSpPr>
          <p:cNvPr id="22" name="Rounded Rectangle 21"/>
          <p:cNvSpPr/>
          <p:nvPr/>
        </p:nvSpPr>
        <p:spPr>
          <a:xfrm>
            <a:off x="4617720" y="4507992"/>
            <a:ext cx="384048" cy="384048"/>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10</a:t>
            </a:r>
          </a:p>
        </p:txBody>
      </p:sp>
      <p:sp>
        <p:nvSpPr>
          <p:cNvPr id="23" name="TextBox 22"/>
          <p:cNvSpPr txBox="1"/>
          <p:nvPr/>
        </p:nvSpPr>
        <p:spPr>
          <a:xfrm>
            <a:off x="5120640" y="4489704"/>
            <a:ext cx="3566160" cy="457200"/>
          </a:xfrm>
          <a:prstGeom prst="rect">
            <a:avLst/>
          </a:prstGeom>
          <a:noFill/>
        </p:spPr>
        <p:txBody>
          <a:bodyPr wrap="square">
            <a:spAutoFit/>
          </a:bodyPr>
          <a:lstStyle/>
          <a:p>
            <a:pPr algn="l">
              <a:spcAft>
                <a:spcPts val="1000"/>
              </a:spcAft>
            </a:pPr>
            <a:r>
              <a:rPr sz="1650" b="0" i="0">
                <a:solidFill>
                  <a:srgbClr val="33415C"/>
                </a:solidFill>
                <a:latin typeface="Times New Roman"/>
              </a:rPr>
              <a:t>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The Problem</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8138160" cy="822960"/>
          </a:xfrm>
          <a:prstGeom prst="rect">
            <a:avLst/>
          </a:prstGeom>
          <a:noFill/>
        </p:spPr>
        <p:txBody>
          <a:bodyPr wrap="square">
            <a:spAutoFit/>
          </a:bodyPr>
          <a:lstStyle/>
          <a:p>
            <a:pPr algn="l">
              <a:spcAft>
                <a:spcPts val="1000"/>
              </a:spcAft>
            </a:pPr>
            <a:r>
              <a:rPr sz="1900" b="0" i="0">
                <a:solidFill>
                  <a:srgbClr val="33415C"/>
                </a:solidFill>
                <a:latin typeface="Times New Roman"/>
              </a:rPr>
              <a:t>Online communities can break down. Hostility rises, the people worth keeping leave, and moderators are left firefighting.</a:t>
            </a:r>
          </a:p>
        </p:txBody>
      </p:sp>
      <p:sp>
        <p:nvSpPr>
          <p:cNvPr id="5" name="TextBox 4"/>
          <p:cNvSpPr txBox="1"/>
          <p:nvPr/>
        </p:nvSpPr>
        <p:spPr>
          <a:xfrm>
            <a:off x="502920" y="2039112"/>
            <a:ext cx="8138160" cy="2194560"/>
          </a:xfrm>
          <a:prstGeom prst="rect">
            <a:avLst/>
          </a:prstGeom>
          <a:noFill/>
        </p:spPr>
        <p:txBody>
          <a:bodyPr wrap="square">
            <a:spAutoFit/>
          </a:bodyPr>
          <a:lstStyle/>
          <a:p>
            <a:pPr algn="l">
              <a:spcAft>
                <a:spcPts val="1600"/>
              </a:spcAft>
            </a:pPr>
            <a:r>
              <a:rPr sz="1800" b="0" i="0">
                <a:solidFill>
                  <a:srgbClr val="33415C"/>
                </a:solidFill>
                <a:latin typeface="Times New Roman"/>
              </a:rPr>
              <a:t>•   Today's tools judge one comment at a time, after it is posted.</a:t>
            </a:r>
          </a:p>
          <a:p>
            <a:pPr algn="l">
              <a:spcAft>
                <a:spcPts val="1600"/>
              </a:spcAft>
            </a:pPr>
            <a:r>
              <a:rPr sz="1800" b="0" i="0">
                <a:solidFill>
                  <a:srgbClr val="33415C"/>
                </a:solidFill>
                <a:latin typeface="Times New Roman"/>
              </a:rPr>
              <a:t>•   They describe how a community looks now — not where it is heading.</a:t>
            </a:r>
          </a:p>
          <a:p>
            <a:pPr algn="l">
              <a:spcAft>
                <a:spcPts val="1600"/>
              </a:spcAft>
            </a:pPr>
            <a:r>
              <a:rPr sz="1800" b="0" i="0">
                <a:solidFill>
                  <a:srgbClr val="33415C"/>
                </a:solidFill>
                <a:latin typeface="Times New Roman"/>
              </a:rPr>
              <a:t>•   By the time a dashboard turns red, the harm has already happened.</a:t>
            </a:r>
          </a:p>
        </p:txBody>
      </p:sp>
      <p:sp>
        <p:nvSpPr>
          <p:cNvPr id="6" name="Rounded Rectangle 5"/>
          <p:cNvSpPr/>
          <p:nvPr/>
        </p:nvSpPr>
        <p:spPr>
          <a:xfrm>
            <a:off x="502920" y="4434840"/>
            <a:ext cx="8138160" cy="1097280"/>
          </a:xfrm>
          <a:prstGeom prst="roundRect">
            <a:avLst/>
          </a:prstGeom>
          <a:solidFill>
            <a:srgbClr val="F5F8FC"/>
          </a:solidFill>
          <a:ln w="22225">
            <a:solidFill>
              <a:srgbClr val="A99BD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A3A5C"/>
                </a:solidFill>
                <a:latin typeface="Times New Roman"/>
              </a:rPr>
              <a:t>Moderators are given volume, not priority.</a:t>
            </a:r>
          </a:p>
          <a:p>
            <a:pPr algn="ctr"/>
            <a:r>
              <a:rPr sz="1200">
                <a:solidFill>
                  <a:srgbClr val="6B7A99"/>
                </a:solidFill>
                <a:latin typeface="Times New Roman"/>
              </a:rPr>
              <a:t>the gap we set out to close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Our Idea — a Lesson from Universe 25</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8138160" cy="1463040"/>
          </a:xfrm>
          <a:prstGeom prst="rect">
            <a:avLst/>
          </a:prstGeom>
          <a:noFill/>
        </p:spPr>
        <p:txBody>
          <a:bodyPr wrap="square">
            <a:spAutoFit/>
          </a:bodyPr>
          <a:lstStyle/>
          <a:p>
            <a:pPr algn="l">
              <a:spcAft>
                <a:spcPts val="1000"/>
              </a:spcAft>
            </a:pPr>
            <a:r>
              <a:rPr sz="1800" b="0" i="0">
                <a:solidFill>
                  <a:srgbClr val="33415C"/>
                </a:solidFill>
                <a:latin typeface="Times New Roman"/>
              </a:rPr>
              <a:t>From 1968 to 1973, John Calhoun gave a mouse colony unlimited food, water and safety — but limited space. The population grew, then collapsed. The collapse was described in detail afterwards. Nothing measured it coming.</a:t>
            </a:r>
          </a:p>
        </p:txBody>
      </p:sp>
      <p:sp>
        <p:nvSpPr>
          <p:cNvPr id="5" name="Rounded Rectangle 4"/>
          <p:cNvSpPr/>
          <p:nvPr/>
        </p:nvSpPr>
        <p:spPr>
          <a:xfrm>
            <a:off x="502920" y="2697480"/>
            <a:ext cx="8138160" cy="1005840"/>
          </a:xfrm>
          <a:prstGeom prst="roundRect">
            <a:avLst/>
          </a:prstGeom>
          <a:solidFill>
            <a:srgbClr val="F5F8FC"/>
          </a:solidFill>
          <a:ln w="22225">
            <a:solidFill>
              <a:srgbClr val="7FC0B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2A3A5C"/>
                </a:solidFill>
                <a:latin typeface="Times New Roman"/>
              </a:rPr>
              <a:t>Online communities have the same problem — but they are fully recorded.</a:t>
            </a:r>
          </a:p>
          <a:p>
            <a:pPr algn="ctr"/>
            <a:r>
              <a:rPr sz="1200">
                <a:solidFill>
                  <a:srgbClr val="6B7A99"/>
                </a:solidFill>
                <a:latin typeface="Times New Roman"/>
              </a:rPr>
              <a:t>every comment, every author, every timestamp</a:t>
            </a:r>
          </a:p>
        </p:txBody>
      </p:sp>
      <p:sp>
        <p:nvSpPr>
          <p:cNvPr id="6" name="TextBox 5"/>
          <p:cNvSpPr txBox="1"/>
          <p:nvPr/>
        </p:nvSpPr>
        <p:spPr>
          <a:xfrm>
            <a:off x="502920" y="3931920"/>
            <a:ext cx="8138160" cy="1554480"/>
          </a:xfrm>
          <a:prstGeom prst="rect">
            <a:avLst/>
          </a:prstGeom>
          <a:noFill/>
        </p:spPr>
        <p:txBody>
          <a:bodyPr wrap="square">
            <a:spAutoFit/>
          </a:bodyPr>
          <a:lstStyle/>
          <a:p>
            <a:pPr algn="l">
              <a:spcAft>
                <a:spcPts val="1400"/>
              </a:spcAft>
            </a:pPr>
            <a:r>
              <a:rPr sz="1800" b="0" i="0">
                <a:solidFill>
                  <a:srgbClr val="33415C"/>
                </a:solidFill>
                <a:latin typeface="Times New Roman"/>
              </a:rPr>
              <a:t>•   So the early warning signs are already in the data. Nobody was looking for them.</a:t>
            </a:r>
          </a:p>
          <a:p>
            <a:pPr algn="l">
              <a:spcAft>
                <a:spcPts val="1400"/>
              </a:spcAft>
            </a:pPr>
            <a:r>
              <a:rPr sz="1800" b="0" i="0">
                <a:solidFill>
                  <a:srgbClr val="33415C"/>
                </a:solidFill>
                <a:latin typeface="Times New Roman"/>
              </a:rPr>
              <a:t>•   We treat instability as something to forecast, not something to classify.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What We Built</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pollo_architecture.png"/>
          <p:cNvPicPr>
            <a:picLocks noChangeAspect="1"/>
          </p:cNvPicPr>
          <p:nvPr/>
        </p:nvPicPr>
        <p:blipFill>
          <a:blip r:embed="rId2"/>
          <a:stretch>
            <a:fillRect/>
          </a:stretch>
        </p:blipFill>
        <p:spPr>
          <a:xfrm>
            <a:off x="548640" y="1078992"/>
            <a:ext cx="4744923" cy="4343400"/>
          </a:xfrm>
          <a:prstGeom prst="rect">
            <a:avLst/>
          </a:prstGeom>
        </p:spPr>
      </p:pic>
      <p:sp>
        <p:nvSpPr>
          <p:cNvPr id="5" name="TextBox 4"/>
          <p:cNvSpPr txBox="1"/>
          <p:nvPr/>
        </p:nvSpPr>
        <p:spPr>
          <a:xfrm>
            <a:off x="5760720" y="1216151"/>
            <a:ext cx="2880360" cy="4023360"/>
          </a:xfrm>
          <a:prstGeom prst="rect">
            <a:avLst/>
          </a:prstGeom>
          <a:noFill/>
        </p:spPr>
        <p:txBody>
          <a:bodyPr wrap="square">
            <a:spAutoFit/>
          </a:bodyPr>
          <a:lstStyle/>
          <a:p>
            <a:pPr algn="l">
              <a:spcAft>
                <a:spcPts val="1400"/>
              </a:spcAft>
            </a:pPr>
            <a:r>
              <a:rPr sz="1500" b="0" i="0">
                <a:solidFill>
                  <a:srgbClr val="33415C"/>
                </a:solidFill>
                <a:latin typeface="Times New Roman"/>
              </a:rPr>
              <a:t>Five layers.</a:t>
            </a:r>
          </a:p>
          <a:p>
            <a:pPr algn="l">
              <a:spcAft>
                <a:spcPts val="1400"/>
              </a:spcAft>
            </a:pPr>
            <a:r>
              <a:rPr sz="1500" b="0" i="0">
                <a:solidFill>
                  <a:srgbClr val="33415C"/>
                </a:solidFill>
                <a:latin typeface="Times New Roman"/>
              </a:rPr>
              <a:t>Each one is measured on its own, so we can say which part works and which does not.</a:t>
            </a:r>
          </a:p>
          <a:p>
            <a:pPr algn="l">
              <a:spcAft>
                <a:spcPts val="1400"/>
              </a:spcAft>
            </a:pPr>
            <a:r>
              <a:rPr sz="1500" b="0" i="0">
                <a:solidFill>
                  <a:srgbClr val="33415C"/>
                </a:solidFill>
                <a:latin typeface="Times New Roman"/>
              </a:rPr>
              <a:t>Deterministic code and trained models make every decision. The language model only writes the explanation — it never changes a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How It Works — in Plain Terms</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060704"/>
            <a:ext cx="1325880" cy="731520"/>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MICRO</a:t>
            </a:r>
          </a:p>
        </p:txBody>
      </p:sp>
      <p:sp>
        <p:nvSpPr>
          <p:cNvPr id="5" name="TextBox 4"/>
          <p:cNvSpPr txBox="1"/>
          <p:nvPr/>
        </p:nvSpPr>
        <p:spPr>
          <a:xfrm>
            <a:off x="2011680" y="1088136"/>
            <a:ext cx="4389120" cy="685800"/>
          </a:xfrm>
          <a:prstGeom prst="rect">
            <a:avLst/>
          </a:prstGeom>
          <a:noFill/>
        </p:spPr>
        <p:txBody>
          <a:bodyPr wrap="square">
            <a:spAutoFit/>
          </a:bodyPr>
          <a:lstStyle/>
          <a:p>
            <a:pPr algn="l">
              <a:spcAft>
                <a:spcPts val="1000"/>
              </a:spcAft>
            </a:pPr>
            <a:r>
              <a:rPr sz="1650" b="0" i="0">
                <a:solidFill>
                  <a:srgbClr val="33415C"/>
                </a:solidFill>
                <a:latin typeface="Times New Roman"/>
              </a:rPr>
              <a:t>Score every comment for toxicity</a:t>
            </a:r>
          </a:p>
        </p:txBody>
      </p:sp>
      <p:sp>
        <p:nvSpPr>
          <p:cNvPr id="6" name="TextBox 5"/>
          <p:cNvSpPr txBox="1"/>
          <p:nvPr/>
        </p:nvSpPr>
        <p:spPr>
          <a:xfrm>
            <a:off x="6446520" y="1133856"/>
            <a:ext cx="2240280" cy="640080"/>
          </a:xfrm>
          <a:prstGeom prst="rect">
            <a:avLst/>
          </a:prstGeom>
          <a:noFill/>
        </p:spPr>
        <p:txBody>
          <a:bodyPr wrap="square">
            <a:spAutoFit/>
          </a:bodyPr>
          <a:lstStyle/>
          <a:p>
            <a:pPr algn="l">
              <a:spcAft>
                <a:spcPts val="1000"/>
              </a:spcAft>
            </a:pPr>
            <a:r>
              <a:rPr sz="1200" b="0" i="1">
                <a:solidFill>
                  <a:srgbClr val="6B7A99"/>
                </a:solidFill>
                <a:latin typeface="Times New Roman"/>
              </a:rPr>
              <a:t>toxic-bert</a:t>
            </a:r>
          </a:p>
        </p:txBody>
      </p:sp>
      <p:sp>
        <p:nvSpPr>
          <p:cNvPr id="7" name="Rounded Rectangle 6"/>
          <p:cNvSpPr/>
          <p:nvPr/>
        </p:nvSpPr>
        <p:spPr>
          <a:xfrm>
            <a:off x="502920" y="1947672"/>
            <a:ext cx="1325880" cy="731520"/>
          </a:xfrm>
          <a:prstGeom prst="roundRect">
            <a:avLst/>
          </a:prstGeom>
          <a:solidFill>
            <a:srgbClr val="7FC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MESO</a:t>
            </a:r>
          </a:p>
        </p:txBody>
      </p:sp>
      <p:sp>
        <p:nvSpPr>
          <p:cNvPr id="8" name="TextBox 7"/>
          <p:cNvSpPr txBox="1"/>
          <p:nvPr/>
        </p:nvSpPr>
        <p:spPr>
          <a:xfrm>
            <a:off x="2011680" y="1975103"/>
            <a:ext cx="4389120" cy="685800"/>
          </a:xfrm>
          <a:prstGeom prst="rect">
            <a:avLst/>
          </a:prstGeom>
          <a:noFill/>
        </p:spPr>
        <p:txBody>
          <a:bodyPr wrap="square">
            <a:spAutoFit/>
          </a:bodyPr>
          <a:lstStyle/>
          <a:p>
            <a:pPr algn="l">
              <a:spcAft>
                <a:spcPts val="1000"/>
              </a:spcAft>
            </a:pPr>
            <a:r>
              <a:rPr sz="1650" b="0" i="0">
                <a:solidFill>
                  <a:srgbClr val="33415C"/>
                </a:solidFill>
                <a:latin typeface="Times New Roman"/>
              </a:rPr>
              <a:t>Combine them into a health score per community</a:t>
            </a:r>
          </a:p>
        </p:txBody>
      </p:sp>
      <p:sp>
        <p:nvSpPr>
          <p:cNvPr id="9" name="TextBox 8"/>
          <p:cNvSpPr txBox="1"/>
          <p:nvPr/>
        </p:nvSpPr>
        <p:spPr>
          <a:xfrm>
            <a:off x="6446520" y="2020824"/>
            <a:ext cx="2240280" cy="640080"/>
          </a:xfrm>
          <a:prstGeom prst="rect">
            <a:avLst/>
          </a:prstGeom>
          <a:noFill/>
        </p:spPr>
        <p:txBody>
          <a:bodyPr wrap="square">
            <a:spAutoFit/>
          </a:bodyPr>
          <a:lstStyle/>
          <a:p>
            <a:pPr algn="l">
              <a:spcAft>
                <a:spcPts val="1000"/>
              </a:spcAft>
            </a:pPr>
            <a:r>
              <a:rPr sz="1200" b="0" i="1">
                <a:solidFill>
                  <a:srgbClr val="6B7A99"/>
                </a:solidFill>
                <a:latin typeface="Times New Roman"/>
              </a:rPr>
              <a:t>health index + instability</a:t>
            </a:r>
          </a:p>
        </p:txBody>
      </p:sp>
      <p:sp>
        <p:nvSpPr>
          <p:cNvPr id="10" name="Rounded Rectangle 9"/>
          <p:cNvSpPr/>
          <p:nvPr/>
        </p:nvSpPr>
        <p:spPr>
          <a:xfrm>
            <a:off x="502920" y="2834639"/>
            <a:ext cx="1325880" cy="731520"/>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PATTERN</a:t>
            </a:r>
          </a:p>
        </p:txBody>
      </p:sp>
      <p:sp>
        <p:nvSpPr>
          <p:cNvPr id="11" name="TextBox 10"/>
          <p:cNvSpPr txBox="1"/>
          <p:nvPr/>
        </p:nvSpPr>
        <p:spPr>
          <a:xfrm>
            <a:off x="2011680" y="2862071"/>
            <a:ext cx="4389120" cy="685800"/>
          </a:xfrm>
          <a:prstGeom prst="rect">
            <a:avLst/>
          </a:prstGeom>
          <a:noFill/>
        </p:spPr>
        <p:txBody>
          <a:bodyPr wrap="square">
            <a:spAutoFit/>
          </a:bodyPr>
          <a:lstStyle/>
          <a:p>
            <a:pPr algn="l">
              <a:spcAft>
                <a:spcPts val="1000"/>
              </a:spcAft>
            </a:pPr>
            <a:r>
              <a:rPr sz="1650" b="0" i="0">
                <a:solidFill>
                  <a:srgbClr val="33415C"/>
                </a:solidFill>
                <a:latin typeface="Times New Roman"/>
              </a:rPr>
              <a:t>Group similar communities without labels</a:t>
            </a:r>
          </a:p>
        </p:txBody>
      </p:sp>
      <p:sp>
        <p:nvSpPr>
          <p:cNvPr id="12" name="TextBox 11"/>
          <p:cNvSpPr txBox="1"/>
          <p:nvPr/>
        </p:nvSpPr>
        <p:spPr>
          <a:xfrm>
            <a:off x="6446520" y="2907791"/>
            <a:ext cx="2240280" cy="640080"/>
          </a:xfrm>
          <a:prstGeom prst="rect">
            <a:avLst/>
          </a:prstGeom>
          <a:noFill/>
        </p:spPr>
        <p:txBody>
          <a:bodyPr wrap="square">
            <a:spAutoFit/>
          </a:bodyPr>
          <a:lstStyle/>
          <a:p>
            <a:pPr algn="l">
              <a:spcAft>
                <a:spcPts val="1000"/>
              </a:spcAft>
            </a:pPr>
            <a:r>
              <a:rPr sz="1200" b="0" i="1">
                <a:solidFill>
                  <a:srgbClr val="6B7A99"/>
                </a:solidFill>
                <a:latin typeface="Times New Roman"/>
              </a:rPr>
              <a:t>K-Means, DBSCAN</a:t>
            </a:r>
          </a:p>
        </p:txBody>
      </p:sp>
      <p:sp>
        <p:nvSpPr>
          <p:cNvPr id="13" name="Rounded Rectangle 12"/>
          <p:cNvSpPr/>
          <p:nvPr/>
        </p:nvSpPr>
        <p:spPr>
          <a:xfrm>
            <a:off x="502920" y="3721607"/>
            <a:ext cx="1325880" cy="731520"/>
          </a:xfrm>
          <a:prstGeom prst="roundRect">
            <a:avLst/>
          </a:prstGeom>
          <a:solidFill>
            <a:srgbClr val="A9C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MACRO</a:t>
            </a:r>
          </a:p>
        </p:txBody>
      </p:sp>
      <p:sp>
        <p:nvSpPr>
          <p:cNvPr id="14" name="TextBox 13"/>
          <p:cNvSpPr txBox="1"/>
          <p:nvPr/>
        </p:nvSpPr>
        <p:spPr>
          <a:xfrm>
            <a:off x="2011680" y="3749039"/>
            <a:ext cx="4389120" cy="685800"/>
          </a:xfrm>
          <a:prstGeom prst="rect">
            <a:avLst/>
          </a:prstGeom>
          <a:noFill/>
        </p:spPr>
        <p:txBody>
          <a:bodyPr wrap="square">
            <a:spAutoFit/>
          </a:bodyPr>
          <a:lstStyle/>
          <a:p>
            <a:pPr algn="l">
              <a:spcAft>
                <a:spcPts val="1000"/>
              </a:spcAft>
            </a:pPr>
            <a:r>
              <a:rPr sz="1650" b="0" i="0">
                <a:solidFill>
                  <a:srgbClr val="33415C"/>
                </a:solidFill>
                <a:latin typeface="Times New Roman"/>
              </a:rPr>
              <a:t>Forecast the next five days, with confidence bands</a:t>
            </a:r>
          </a:p>
        </p:txBody>
      </p:sp>
      <p:sp>
        <p:nvSpPr>
          <p:cNvPr id="15" name="TextBox 14"/>
          <p:cNvSpPr txBox="1"/>
          <p:nvPr/>
        </p:nvSpPr>
        <p:spPr>
          <a:xfrm>
            <a:off x="6446520" y="3794759"/>
            <a:ext cx="2240280" cy="640080"/>
          </a:xfrm>
          <a:prstGeom prst="rect">
            <a:avLst/>
          </a:prstGeom>
          <a:noFill/>
        </p:spPr>
        <p:txBody>
          <a:bodyPr wrap="square">
            <a:spAutoFit/>
          </a:bodyPr>
          <a:lstStyle/>
          <a:p>
            <a:pPr algn="l">
              <a:spcAft>
                <a:spcPts val="1000"/>
              </a:spcAft>
            </a:pPr>
            <a:r>
              <a:rPr sz="1200" b="0" i="1">
                <a:solidFill>
                  <a:srgbClr val="6B7A99"/>
                </a:solidFill>
                <a:latin typeface="Times New Roman"/>
              </a:rPr>
              <a:t>Temporal Fusion Transformer</a:t>
            </a:r>
          </a:p>
        </p:txBody>
      </p:sp>
      <p:sp>
        <p:nvSpPr>
          <p:cNvPr id="16" name="Rounded Rectangle 15"/>
          <p:cNvSpPr/>
          <p:nvPr/>
        </p:nvSpPr>
        <p:spPr>
          <a:xfrm>
            <a:off x="502920" y="4608575"/>
            <a:ext cx="1325880" cy="731520"/>
          </a:xfrm>
          <a:prstGeom prst="roundRect">
            <a:avLst/>
          </a:prstGeom>
          <a:solidFill>
            <a:srgbClr val="E8AF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Times New Roman"/>
              </a:rPr>
              <a:t>ACT</a:t>
            </a:r>
          </a:p>
        </p:txBody>
      </p:sp>
      <p:sp>
        <p:nvSpPr>
          <p:cNvPr id="17" name="TextBox 16"/>
          <p:cNvSpPr txBox="1"/>
          <p:nvPr/>
        </p:nvSpPr>
        <p:spPr>
          <a:xfrm>
            <a:off x="2011680" y="4636007"/>
            <a:ext cx="4389120" cy="685800"/>
          </a:xfrm>
          <a:prstGeom prst="rect">
            <a:avLst/>
          </a:prstGeom>
          <a:noFill/>
        </p:spPr>
        <p:txBody>
          <a:bodyPr wrap="square">
            <a:spAutoFit/>
          </a:bodyPr>
          <a:lstStyle/>
          <a:p>
            <a:pPr algn="l">
              <a:spcAft>
                <a:spcPts val="1000"/>
              </a:spcAft>
            </a:pPr>
            <a:r>
              <a:rPr sz="1650" b="0" i="0">
                <a:solidFill>
                  <a:srgbClr val="33415C"/>
                </a:solidFill>
                <a:latin typeface="Times New Roman"/>
              </a:rPr>
              <a:t>Raise a graded alert and a recommended action</a:t>
            </a:r>
          </a:p>
        </p:txBody>
      </p:sp>
      <p:sp>
        <p:nvSpPr>
          <p:cNvPr id="18" name="TextBox 17"/>
          <p:cNvSpPr txBox="1"/>
          <p:nvPr/>
        </p:nvSpPr>
        <p:spPr>
          <a:xfrm>
            <a:off x="6446520" y="4681727"/>
            <a:ext cx="2240280" cy="640080"/>
          </a:xfrm>
          <a:prstGeom prst="rect">
            <a:avLst/>
          </a:prstGeom>
          <a:noFill/>
        </p:spPr>
        <p:txBody>
          <a:bodyPr wrap="square">
            <a:spAutoFit/>
          </a:bodyPr>
          <a:lstStyle/>
          <a:p>
            <a:pPr algn="l">
              <a:spcAft>
                <a:spcPts val="1000"/>
              </a:spcAft>
            </a:pPr>
            <a:r>
              <a:rPr sz="1200" b="0" i="1">
                <a:solidFill>
                  <a:srgbClr val="6B7A99"/>
                </a:solidFill>
                <a:latin typeface="Times New Roman"/>
              </a:rPr>
              <a:t>four alert bands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Our Key Finding</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05839"/>
            <a:ext cx="8138160" cy="457200"/>
          </a:xfrm>
          <a:prstGeom prst="rect">
            <a:avLst/>
          </a:prstGeom>
          <a:noFill/>
        </p:spPr>
        <p:txBody>
          <a:bodyPr wrap="square">
            <a:spAutoFit/>
          </a:bodyPr>
          <a:lstStyle/>
          <a:p>
            <a:pPr algn="l">
              <a:spcAft>
                <a:spcPts val="1000"/>
              </a:spcAft>
            </a:pPr>
            <a:r>
              <a:rPr sz="1750" b="1" i="0">
                <a:solidFill>
                  <a:srgbClr val="33415C"/>
                </a:solidFill>
                <a:latin typeface="Times New Roman"/>
              </a:rPr>
              <a:t>We tested our own health score — it did worse than an ingredient inside it.</a:t>
            </a:r>
          </a:p>
        </p:txBody>
      </p:sp>
      <p:pic>
        <p:nvPicPr>
          <p:cNvPr id="5" name="Picture 4" descr="finding_chart.png"/>
          <p:cNvPicPr>
            <a:picLocks noChangeAspect="1"/>
          </p:cNvPicPr>
          <p:nvPr/>
        </p:nvPicPr>
        <p:blipFill>
          <a:blip r:embed="rId2"/>
          <a:stretch>
            <a:fillRect/>
          </a:stretch>
        </p:blipFill>
        <p:spPr>
          <a:xfrm>
            <a:off x="822960" y="1463039"/>
            <a:ext cx="7498079" cy="3899001"/>
          </a:xfrm>
          <a:prstGeom prst="rect">
            <a:avLst/>
          </a:prstGeom>
        </p:spPr>
      </p:pic>
      <p:sp>
        <p:nvSpPr>
          <p:cNvPr id="6" name="TextBox 5"/>
          <p:cNvSpPr txBox="1"/>
          <p:nvPr/>
        </p:nvSpPr>
        <p:spPr>
          <a:xfrm>
            <a:off x="502920" y="5321808"/>
            <a:ext cx="8138160" cy="457200"/>
          </a:xfrm>
          <a:prstGeom prst="rect">
            <a:avLst/>
          </a:prstGeom>
          <a:noFill/>
        </p:spPr>
        <p:txBody>
          <a:bodyPr wrap="square">
            <a:spAutoFit/>
          </a:bodyPr>
          <a:lstStyle/>
          <a:p>
            <a:pPr algn="ctr">
              <a:spcAft>
                <a:spcPts val="1000"/>
              </a:spcAft>
            </a:pPr>
            <a:r>
              <a:rPr sz="1450" b="0" i="1">
                <a:solidFill>
                  <a:srgbClr val="6B7A99"/>
                </a:solidFill>
                <a:latin typeface="Times New Roman"/>
              </a:rPr>
              <a:t>A health score says how bad a community is now. Instability is how fast it is changing.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The Same Failure, Found Twice</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8138160" cy="777240"/>
          </a:xfrm>
          <a:prstGeom prst="rect">
            <a:avLst/>
          </a:prstGeom>
          <a:noFill/>
        </p:spPr>
        <p:txBody>
          <a:bodyPr wrap="square">
            <a:spAutoFit/>
          </a:bodyPr>
          <a:lstStyle/>
          <a:p>
            <a:pPr algn="l">
              <a:spcAft>
                <a:spcPts val="1000"/>
              </a:spcAft>
            </a:pPr>
            <a:r>
              <a:rPr sz="1800" b="0" i="0">
                <a:solidFill>
                  <a:srgbClr val="33415C"/>
                </a:solidFill>
                <a:latin typeface="Times New Roman"/>
              </a:rPr>
              <a:t>Our graph model was built separately, with different inputs. It scored below chance on the very same task.</a:t>
            </a:r>
          </a:p>
        </p:txBody>
      </p:sp>
      <p:sp>
        <p:nvSpPr>
          <p:cNvPr id="5" name="Rounded Rectangle 4"/>
          <p:cNvSpPr/>
          <p:nvPr/>
        </p:nvSpPr>
        <p:spPr>
          <a:xfrm>
            <a:off x="502920" y="1947672"/>
            <a:ext cx="3931920" cy="1325880"/>
          </a:xfrm>
          <a:prstGeom prst="roundRect">
            <a:avLst/>
          </a:prstGeom>
          <a:solidFill>
            <a:srgbClr val="F5F8FC"/>
          </a:solidFill>
          <a:ln w="22225">
            <a:solidFill>
              <a:srgbClr val="E8AF8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0.575</a:t>
            </a:r>
          </a:p>
          <a:p>
            <a:pPr algn="ctr"/>
            <a:r>
              <a:rPr sz="1200">
                <a:solidFill>
                  <a:srgbClr val="6B7A99"/>
                </a:solidFill>
                <a:latin typeface="Times New Roman"/>
              </a:rPr>
              <a:t>Community Health Index</a:t>
            </a:r>
          </a:p>
        </p:txBody>
      </p:sp>
      <p:sp>
        <p:nvSpPr>
          <p:cNvPr id="6" name="Rounded Rectangle 5"/>
          <p:cNvSpPr/>
          <p:nvPr/>
        </p:nvSpPr>
        <p:spPr>
          <a:xfrm>
            <a:off x="4709160" y="1947672"/>
            <a:ext cx="3931920" cy="1325880"/>
          </a:xfrm>
          <a:prstGeom prst="roundRect">
            <a:avLst/>
          </a:prstGeom>
          <a:solidFill>
            <a:srgbClr val="F5F8FC"/>
          </a:solidFill>
          <a:ln w="22225">
            <a:solidFill>
              <a:srgbClr val="E8AF8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0.415</a:t>
            </a:r>
          </a:p>
          <a:p>
            <a:pPr algn="ctr"/>
            <a:r>
              <a:rPr sz="1200">
                <a:solidFill>
                  <a:srgbClr val="6B7A99"/>
                </a:solidFill>
                <a:latin typeface="Times New Roman"/>
              </a:rPr>
              <a:t>GraphSAGE structural risk</a:t>
            </a:r>
          </a:p>
        </p:txBody>
      </p:sp>
      <p:sp>
        <p:nvSpPr>
          <p:cNvPr id="7" name="TextBox 6"/>
          <p:cNvSpPr txBox="1"/>
          <p:nvPr/>
        </p:nvSpPr>
        <p:spPr>
          <a:xfrm>
            <a:off x="502920" y="3502152"/>
            <a:ext cx="8138160" cy="1920240"/>
          </a:xfrm>
          <a:prstGeom prst="rect">
            <a:avLst/>
          </a:prstGeom>
          <a:noFill/>
        </p:spPr>
        <p:txBody>
          <a:bodyPr wrap="square">
            <a:spAutoFit/>
          </a:bodyPr>
          <a:lstStyle/>
          <a:p>
            <a:pPr algn="l">
              <a:spcAft>
                <a:spcPts val="1400"/>
              </a:spcAft>
            </a:pPr>
            <a:r>
              <a:rPr sz="1750" b="0" i="0">
                <a:solidFill>
                  <a:srgbClr val="33415C"/>
                </a:solidFill>
                <a:latin typeface="Times New Roman"/>
              </a:rPr>
              <a:t>•   Both were trained on how a community looks now, not on how it is changing.</a:t>
            </a:r>
          </a:p>
          <a:p>
            <a:pPr algn="l">
              <a:spcAft>
                <a:spcPts val="1400"/>
              </a:spcAft>
            </a:pPr>
            <a:r>
              <a:rPr sz="1750" b="0" i="0">
                <a:solidFill>
                  <a:srgbClr val="33415C"/>
                </a:solidFill>
                <a:latin typeface="Times New Roman"/>
              </a:rPr>
              <a:t>•   One weak score could be a mistake in one formula.</a:t>
            </a:r>
          </a:p>
          <a:p>
            <a:pPr algn="l">
              <a:spcAft>
                <a:spcPts val="1400"/>
              </a:spcAft>
            </a:pPr>
            <a:r>
              <a:rPr sz="1750" b="0" i="0">
                <a:solidFill>
                  <a:srgbClr val="33415C"/>
                </a:solidFill>
                <a:latin typeface="Times New Roman"/>
              </a:rPr>
              <a:t>•   Two, built independently, show that the whole type of measure is wrong.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Does It Actually Predict?</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33271"/>
            <a:ext cx="8138160" cy="548640"/>
          </a:xfrm>
          <a:prstGeom prst="rect">
            <a:avLst/>
          </a:prstGeom>
          <a:noFill/>
        </p:spPr>
        <p:txBody>
          <a:bodyPr wrap="square">
            <a:spAutoFit/>
          </a:bodyPr>
          <a:lstStyle/>
          <a:p>
            <a:pPr algn="l">
              <a:spcAft>
                <a:spcPts val="1000"/>
              </a:spcAft>
            </a:pPr>
            <a:r>
              <a:rPr sz="1750" b="0" i="0">
                <a:solidFill>
                  <a:srgbClr val="33415C"/>
                </a:solidFill>
                <a:latin typeface="Times New Roman"/>
              </a:rPr>
              <a:t>We hid 15 destabilising communities among 60. The forecaster never sees the answer key.</a:t>
            </a:r>
          </a:p>
        </p:txBody>
      </p:sp>
      <p:sp>
        <p:nvSpPr>
          <p:cNvPr id="5" name="Rounded Rectangle 4"/>
          <p:cNvSpPr/>
          <p:nvPr/>
        </p:nvSpPr>
        <p:spPr>
          <a:xfrm>
            <a:off x="502920" y="1673352"/>
            <a:ext cx="2606040" cy="1280160"/>
          </a:xfrm>
          <a:prstGeom prst="roundRect">
            <a:avLst/>
          </a:prstGeom>
          <a:solidFill>
            <a:srgbClr val="F5F8FC"/>
          </a:solidFill>
          <a:ln w="22225">
            <a:solidFill>
              <a:srgbClr val="7FC0B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15 / 15</a:t>
            </a:r>
          </a:p>
          <a:p>
            <a:pPr algn="ctr"/>
            <a:r>
              <a:rPr sz="1200">
                <a:solidFill>
                  <a:srgbClr val="6B7A99"/>
                </a:solidFill>
                <a:latin typeface="Times New Roman"/>
              </a:rPr>
              <a:t>found correctly</a:t>
            </a:r>
          </a:p>
        </p:txBody>
      </p:sp>
      <p:sp>
        <p:nvSpPr>
          <p:cNvPr id="6" name="Rounded Rectangle 5"/>
          <p:cNvSpPr/>
          <p:nvPr/>
        </p:nvSpPr>
        <p:spPr>
          <a:xfrm>
            <a:off x="3310128" y="1673352"/>
            <a:ext cx="2560320" cy="1280160"/>
          </a:xfrm>
          <a:prstGeom prst="roundRect">
            <a:avLst/>
          </a:prstGeom>
          <a:solidFill>
            <a:srgbClr val="F5F8FC"/>
          </a:solidFill>
          <a:ln w="22225">
            <a:solidFill>
              <a:srgbClr val="7FA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0.732</a:t>
            </a:r>
          </a:p>
          <a:p>
            <a:pPr algn="ctr"/>
            <a:r>
              <a:rPr sz="1200">
                <a:solidFill>
                  <a:srgbClr val="6B7A99"/>
                </a:solidFill>
                <a:latin typeface="Times New Roman"/>
              </a:rPr>
              <a:t>trend ranking (ROC-AUC)</a:t>
            </a:r>
          </a:p>
        </p:txBody>
      </p:sp>
      <p:sp>
        <p:nvSpPr>
          <p:cNvPr id="7" name="Rounded Rectangle 6"/>
          <p:cNvSpPr/>
          <p:nvPr/>
        </p:nvSpPr>
        <p:spPr>
          <a:xfrm>
            <a:off x="6071616" y="1673352"/>
            <a:ext cx="2560320" cy="1280160"/>
          </a:xfrm>
          <a:prstGeom prst="roundRect">
            <a:avLst/>
          </a:prstGeom>
          <a:solidFill>
            <a:srgbClr val="F5F8FC"/>
          </a:solidFill>
          <a:ln w="22225">
            <a:solidFill>
              <a:srgbClr val="A99BD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5 days</a:t>
            </a:r>
          </a:p>
          <a:p>
            <a:pPr algn="ctr"/>
            <a:r>
              <a:rPr sz="1200">
                <a:solidFill>
                  <a:srgbClr val="6B7A99"/>
                </a:solidFill>
                <a:latin typeface="Times New Roman"/>
              </a:rPr>
              <a:t>forecast horizon</a:t>
            </a:r>
          </a:p>
        </p:txBody>
      </p:sp>
      <p:sp>
        <p:nvSpPr>
          <p:cNvPr id="8" name="TextBox 7"/>
          <p:cNvSpPr txBox="1"/>
          <p:nvPr/>
        </p:nvSpPr>
        <p:spPr>
          <a:xfrm>
            <a:off x="502920" y="3182111"/>
            <a:ext cx="8138160" cy="2194560"/>
          </a:xfrm>
          <a:prstGeom prst="rect">
            <a:avLst/>
          </a:prstGeom>
          <a:noFill/>
        </p:spPr>
        <p:txBody>
          <a:bodyPr wrap="square">
            <a:spAutoFit/>
          </a:bodyPr>
          <a:lstStyle/>
          <a:p>
            <a:pPr algn="l">
              <a:spcAft>
                <a:spcPts val="1400"/>
              </a:spcAft>
            </a:pPr>
            <a:r>
              <a:rPr sz="1700" b="0" i="0">
                <a:solidFill>
                  <a:srgbClr val="33415C"/>
                </a:solidFill>
                <a:latin typeface="Times New Roman"/>
              </a:rPr>
              <a:t>•   The predicted direction was right for every planted community.</a:t>
            </a:r>
          </a:p>
          <a:p>
            <a:pPr algn="l">
              <a:spcAft>
                <a:spcPts val="1400"/>
              </a:spcAft>
            </a:pPr>
            <a:r>
              <a:rPr sz="1700" b="0" i="0">
                <a:solidFill>
                  <a:srgbClr val="33415C"/>
                </a:solidFill>
                <a:latin typeface="Times New Roman"/>
              </a:rPr>
              <a:t>•   Predicted daily trend:  getting worse  +0.0024   ·   stable  +0.0009   ·   improving  −0.0008</a:t>
            </a:r>
          </a:p>
          <a:p>
            <a:pPr algn="l">
              <a:spcAft>
                <a:spcPts val="1400"/>
              </a:spcAft>
            </a:pPr>
            <a:r>
              <a:rPr sz="1700" b="0" i="0">
                <a:solidFill>
                  <a:srgbClr val="33415C"/>
                </a:solidFill>
                <a:latin typeface="Times New Roman"/>
              </a:rPr>
              <a:t>•   Missing a community that is deteriorating costs far more than checking a quiet one, so we tune for recall.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It Runs on Real Reddit Data</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060704"/>
            <a:ext cx="2057400" cy="1005840"/>
          </a:xfrm>
          <a:prstGeom prst="roundRect">
            <a:avLst/>
          </a:prstGeom>
          <a:solidFill>
            <a:srgbClr val="F5F8FC"/>
          </a:solidFill>
          <a:ln w="22225">
            <a:solidFill>
              <a:srgbClr val="7FA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A3A5C"/>
                </a:solidFill>
                <a:latin typeface="Times New Roman"/>
              </a:rPr>
              <a:t>116,854</a:t>
            </a:r>
          </a:p>
          <a:p>
            <a:pPr algn="ctr"/>
            <a:r>
              <a:rPr sz="1200">
                <a:solidFill>
                  <a:srgbClr val="6B7A99"/>
                </a:solidFill>
                <a:latin typeface="Times New Roman"/>
              </a:rPr>
              <a:t>real comments</a:t>
            </a:r>
          </a:p>
        </p:txBody>
      </p:sp>
      <p:sp>
        <p:nvSpPr>
          <p:cNvPr id="5" name="Rounded Rectangle 4"/>
          <p:cNvSpPr/>
          <p:nvPr/>
        </p:nvSpPr>
        <p:spPr>
          <a:xfrm>
            <a:off x="502920" y="2176272"/>
            <a:ext cx="2057400" cy="1005840"/>
          </a:xfrm>
          <a:prstGeom prst="roundRect">
            <a:avLst/>
          </a:prstGeom>
          <a:solidFill>
            <a:srgbClr val="F5F8FC"/>
          </a:solidFill>
          <a:ln w="22225">
            <a:solidFill>
              <a:srgbClr val="7FC0B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A3A5C"/>
                </a:solidFill>
                <a:latin typeface="Times New Roman"/>
              </a:rPr>
              <a:t>24</a:t>
            </a:r>
          </a:p>
          <a:p>
            <a:pPr algn="ctr"/>
            <a:r>
              <a:rPr sz="1200">
                <a:solidFill>
                  <a:srgbClr val="6B7A99"/>
                </a:solidFill>
                <a:latin typeface="Times New Roman"/>
              </a:rPr>
              <a:t>communities</a:t>
            </a:r>
          </a:p>
        </p:txBody>
      </p:sp>
      <p:sp>
        <p:nvSpPr>
          <p:cNvPr id="6" name="Rounded Rectangle 5"/>
          <p:cNvSpPr/>
          <p:nvPr/>
        </p:nvSpPr>
        <p:spPr>
          <a:xfrm>
            <a:off x="502920" y="3291839"/>
            <a:ext cx="2057400" cy="1005840"/>
          </a:xfrm>
          <a:prstGeom prst="roundRect">
            <a:avLst/>
          </a:prstGeom>
          <a:solidFill>
            <a:srgbClr val="F5F8FC"/>
          </a:solidFill>
          <a:ln w="22225">
            <a:solidFill>
              <a:srgbClr val="A99BD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A3A5C"/>
                </a:solidFill>
                <a:latin typeface="Times New Roman"/>
              </a:rPr>
              <a:t>64,416</a:t>
            </a:r>
          </a:p>
          <a:p>
            <a:pPr algn="ctr"/>
            <a:r>
              <a:rPr sz="1200">
                <a:solidFill>
                  <a:srgbClr val="6B7A99"/>
                </a:solidFill>
                <a:latin typeface="Times New Roman"/>
              </a:rPr>
              <a:t>real authors</a:t>
            </a:r>
          </a:p>
        </p:txBody>
      </p:sp>
      <p:sp>
        <p:nvSpPr>
          <p:cNvPr id="7" name="Rounded Rectangle 6"/>
          <p:cNvSpPr/>
          <p:nvPr/>
        </p:nvSpPr>
        <p:spPr>
          <a:xfrm>
            <a:off x="502920" y="4407407"/>
            <a:ext cx="2057400" cy="1005840"/>
          </a:xfrm>
          <a:prstGeom prst="roundRect">
            <a:avLst/>
          </a:prstGeom>
          <a:solidFill>
            <a:srgbClr val="F5F8FC"/>
          </a:solidFill>
          <a:ln w="22225">
            <a:solidFill>
              <a:srgbClr val="A9C7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A3A5C"/>
                </a:solidFill>
                <a:latin typeface="Times New Roman"/>
              </a:rPr>
              <a:t>40</a:t>
            </a:r>
          </a:p>
          <a:p>
            <a:pPr algn="ctr"/>
            <a:r>
              <a:rPr sz="1200">
                <a:solidFill>
                  <a:srgbClr val="6B7A99"/>
                </a:solidFill>
                <a:latin typeface="Times New Roman"/>
              </a:rPr>
              <a:t>days of history</a:t>
            </a:r>
          </a:p>
        </p:txBody>
      </p:sp>
      <p:pic>
        <p:nvPicPr>
          <p:cNvPr id="8" name="Picture 7" descr="image24.png"/>
          <p:cNvPicPr>
            <a:picLocks noChangeAspect="1"/>
          </p:cNvPicPr>
          <p:nvPr/>
        </p:nvPicPr>
        <p:blipFill>
          <a:blip r:embed="rId2"/>
          <a:stretch>
            <a:fillRect/>
          </a:stretch>
        </p:blipFill>
        <p:spPr>
          <a:xfrm>
            <a:off x="2880360" y="1554480"/>
            <a:ext cx="5760720" cy="3229604"/>
          </a:xfrm>
          <a:prstGeom prst="rect">
            <a:avLst/>
          </a:prstGeom>
        </p:spPr>
      </p:pic>
      <p:sp>
        <p:nvSpPr>
          <p:cNvPr id="9" name="TextBox 8"/>
          <p:cNvSpPr txBox="1"/>
          <p:nvPr/>
        </p:nvSpPr>
        <p:spPr>
          <a:xfrm>
            <a:off x="2880360" y="5029200"/>
            <a:ext cx="5760720" cy="594360"/>
          </a:xfrm>
          <a:prstGeom prst="rect">
            <a:avLst/>
          </a:prstGeom>
          <a:noFill/>
        </p:spPr>
        <p:txBody>
          <a:bodyPr wrap="square">
            <a:spAutoFit/>
          </a:bodyPr>
          <a:lstStyle/>
          <a:p>
            <a:pPr algn="ctr">
              <a:spcAft>
                <a:spcPts val="400"/>
              </a:spcAft>
            </a:pPr>
            <a:r>
              <a:rPr sz="1250" b="0" i="1">
                <a:solidFill>
                  <a:srgbClr val="6B7A99"/>
                </a:solidFill>
                <a:latin typeface="Times New Roman"/>
              </a:rPr>
              <a:t>Collected through Arctic Shift — no API key needed. r/PublicFreakout came out least healthy, and we never told it 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The Live System</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34.png"/>
          <p:cNvPicPr>
            <a:picLocks noChangeAspect="1"/>
          </p:cNvPicPr>
          <p:nvPr/>
        </p:nvPicPr>
        <p:blipFill>
          <a:blip r:embed="rId2"/>
          <a:stretch>
            <a:fillRect/>
          </a:stretch>
        </p:blipFill>
        <p:spPr>
          <a:xfrm>
            <a:off x="940981" y="1033271"/>
            <a:ext cx="3147237" cy="1691640"/>
          </a:xfrm>
          <a:prstGeom prst="rect">
            <a:avLst/>
          </a:prstGeom>
        </p:spPr>
      </p:pic>
      <p:sp>
        <p:nvSpPr>
          <p:cNvPr id="5" name="TextBox 4"/>
          <p:cNvSpPr txBox="1"/>
          <p:nvPr/>
        </p:nvSpPr>
        <p:spPr>
          <a:xfrm>
            <a:off x="502920" y="2788920"/>
            <a:ext cx="4023360" cy="320040"/>
          </a:xfrm>
          <a:prstGeom prst="rect">
            <a:avLst/>
          </a:prstGeom>
          <a:noFill/>
        </p:spPr>
        <p:txBody>
          <a:bodyPr wrap="square">
            <a:spAutoFit/>
          </a:bodyPr>
          <a:lstStyle/>
          <a:p>
            <a:pPr algn="ctr">
              <a:spcAft>
                <a:spcPts val="1000"/>
              </a:spcAft>
            </a:pPr>
            <a:r>
              <a:rPr sz="1200" b="0" i="1">
                <a:solidFill>
                  <a:srgbClr val="6B7A99"/>
                </a:solidFill>
                <a:latin typeface="Times New Roman"/>
              </a:rPr>
              <a:t>REST API with interactive docs</a:t>
            </a:r>
          </a:p>
        </p:txBody>
      </p:sp>
      <p:pic>
        <p:nvPicPr>
          <p:cNvPr id="6" name="Picture 5" descr="image25.png"/>
          <p:cNvPicPr>
            <a:picLocks noChangeAspect="1"/>
          </p:cNvPicPr>
          <p:nvPr/>
        </p:nvPicPr>
        <p:blipFill>
          <a:blip r:embed="rId3"/>
          <a:stretch>
            <a:fillRect/>
          </a:stretch>
        </p:blipFill>
        <p:spPr>
          <a:xfrm>
            <a:off x="5291723" y="1033271"/>
            <a:ext cx="2675354" cy="1691640"/>
          </a:xfrm>
          <a:prstGeom prst="rect">
            <a:avLst/>
          </a:prstGeom>
        </p:spPr>
      </p:pic>
      <p:sp>
        <p:nvSpPr>
          <p:cNvPr id="7" name="TextBox 6"/>
          <p:cNvSpPr txBox="1"/>
          <p:nvPr/>
        </p:nvSpPr>
        <p:spPr>
          <a:xfrm>
            <a:off x="4617720" y="2788920"/>
            <a:ext cx="4023360" cy="320040"/>
          </a:xfrm>
          <a:prstGeom prst="rect">
            <a:avLst/>
          </a:prstGeom>
          <a:noFill/>
        </p:spPr>
        <p:txBody>
          <a:bodyPr wrap="square">
            <a:spAutoFit/>
          </a:bodyPr>
          <a:lstStyle/>
          <a:p>
            <a:pPr algn="ctr">
              <a:spcAft>
                <a:spcPts val="1000"/>
              </a:spcAft>
            </a:pPr>
            <a:r>
              <a:rPr sz="1200" b="0" i="1">
                <a:solidFill>
                  <a:srgbClr val="6B7A99"/>
                </a:solidFill>
                <a:latin typeface="Times New Roman"/>
              </a:rPr>
              <a:t>Grafana monitoring, live metrics</a:t>
            </a:r>
          </a:p>
        </p:txBody>
      </p:sp>
      <p:pic>
        <p:nvPicPr>
          <p:cNvPr id="8" name="Picture 7" descr="image23.png"/>
          <p:cNvPicPr>
            <a:picLocks noChangeAspect="1"/>
          </p:cNvPicPr>
          <p:nvPr/>
        </p:nvPicPr>
        <p:blipFill>
          <a:blip r:embed="rId4"/>
          <a:stretch>
            <a:fillRect/>
          </a:stretch>
        </p:blipFill>
        <p:spPr>
          <a:xfrm>
            <a:off x="913047" y="3227832"/>
            <a:ext cx="3203105" cy="1691640"/>
          </a:xfrm>
          <a:prstGeom prst="rect">
            <a:avLst/>
          </a:prstGeom>
        </p:spPr>
      </p:pic>
      <p:sp>
        <p:nvSpPr>
          <p:cNvPr id="9" name="TextBox 8"/>
          <p:cNvSpPr txBox="1"/>
          <p:nvPr/>
        </p:nvSpPr>
        <p:spPr>
          <a:xfrm>
            <a:off x="502920" y="4983480"/>
            <a:ext cx="4023360" cy="320040"/>
          </a:xfrm>
          <a:prstGeom prst="rect">
            <a:avLst/>
          </a:prstGeom>
          <a:noFill/>
        </p:spPr>
        <p:txBody>
          <a:bodyPr wrap="square">
            <a:spAutoFit/>
          </a:bodyPr>
          <a:lstStyle/>
          <a:p>
            <a:pPr algn="ctr">
              <a:spcAft>
                <a:spcPts val="1000"/>
              </a:spcAft>
            </a:pPr>
            <a:r>
              <a:rPr sz="1200" b="0" i="1">
                <a:solidFill>
                  <a:srgbClr val="6B7A99"/>
                </a:solidFill>
                <a:latin typeface="Times New Roman"/>
              </a:rPr>
              <a:t>Live Reddit fetch, on demand</a:t>
            </a:r>
          </a:p>
        </p:txBody>
      </p:sp>
      <p:pic>
        <p:nvPicPr>
          <p:cNvPr id="10" name="Picture 9" descr="image46.png"/>
          <p:cNvPicPr>
            <a:picLocks noChangeAspect="1"/>
          </p:cNvPicPr>
          <p:nvPr/>
        </p:nvPicPr>
        <p:blipFill>
          <a:blip r:embed="rId5"/>
          <a:stretch>
            <a:fillRect/>
          </a:stretch>
        </p:blipFill>
        <p:spPr>
          <a:xfrm>
            <a:off x="5072079" y="3227832"/>
            <a:ext cx="3114642" cy="1691640"/>
          </a:xfrm>
          <a:prstGeom prst="rect">
            <a:avLst/>
          </a:prstGeom>
        </p:spPr>
      </p:pic>
      <p:sp>
        <p:nvSpPr>
          <p:cNvPr id="11" name="TextBox 10"/>
          <p:cNvSpPr txBox="1"/>
          <p:nvPr/>
        </p:nvSpPr>
        <p:spPr>
          <a:xfrm>
            <a:off x="4617720" y="4983480"/>
            <a:ext cx="4023360" cy="320040"/>
          </a:xfrm>
          <a:prstGeom prst="rect">
            <a:avLst/>
          </a:prstGeom>
          <a:noFill/>
        </p:spPr>
        <p:txBody>
          <a:bodyPr wrap="square">
            <a:spAutoFit/>
          </a:bodyPr>
          <a:lstStyle/>
          <a:p>
            <a:pPr algn="ctr">
              <a:spcAft>
                <a:spcPts val="1000"/>
              </a:spcAft>
            </a:pPr>
            <a:r>
              <a:rPr sz="1200" b="0" i="1">
                <a:solidFill>
                  <a:srgbClr val="6B7A99"/>
                </a:solidFill>
                <a:latin typeface="Times New Roman"/>
              </a:rPr>
              <a:t>Five-day forecast with uncertainty</a:t>
            </a:r>
          </a:p>
        </p:txBody>
      </p:sp>
      <p:sp>
        <p:nvSpPr>
          <p:cNvPr id="12" name="TextBox 11"/>
          <p:cNvSpPr txBox="1"/>
          <p:nvPr/>
        </p:nvSpPr>
        <p:spPr>
          <a:xfrm>
            <a:off x="502920" y="5285232"/>
            <a:ext cx="8138160" cy="457200"/>
          </a:xfrm>
          <a:prstGeom prst="rect">
            <a:avLst/>
          </a:prstGeom>
          <a:noFill/>
        </p:spPr>
        <p:txBody>
          <a:bodyPr wrap="square">
            <a:spAutoFit/>
          </a:bodyPr>
          <a:lstStyle/>
          <a:p>
            <a:pPr algn="ctr">
              <a:spcAft>
                <a:spcPts val="1000"/>
              </a:spcAft>
            </a:pPr>
            <a:r>
              <a:rPr sz="1350" b="1" i="0">
                <a:solidFill>
                  <a:srgbClr val="7FA8D4"/>
                </a:solidFill>
                <a:latin typeface="Times New Roman"/>
              </a:rPr>
              <a:t>apollo-m.streamlit.app    ·    apollo-api-tllm.onrender.com/docs    ·    cerebro-sandy-beta.vercel.app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Evidence That It Works</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8.png"/>
          <p:cNvPicPr>
            <a:picLocks noChangeAspect="1"/>
          </p:cNvPicPr>
          <p:nvPr/>
        </p:nvPicPr>
        <p:blipFill>
          <a:blip r:embed="rId2"/>
          <a:stretch>
            <a:fillRect/>
          </a:stretch>
        </p:blipFill>
        <p:spPr>
          <a:xfrm>
            <a:off x="457200" y="1124712"/>
            <a:ext cx="8229600" cy="2463282"/>
          </a:xfrm>
          <a:prstGeom prst="rect">
            <a:avLst/>
          </a:prstGeom>
        </p:spPr>
      </p:pic>
      <p:sp>
        <p:nvSpPr>
          <p:cNvPr id="5" name="TextBox 4"/>
          <p:cNvSpPr txBox="1"/>
          <p:nvPr/>
        </p:nvSpPr>
        <p:spPr>
          <a:xfrm>
            <a:off x="502920" y="3867911"/>
            <a:ext cx="8138160" cy="1828800"/>
          </a:xfrm>
          <a:prstGeom prst="rect">
            <a:avLst/>
          </a:prstGeom>
          <a:noFill/>
        </p:spPr>
        <p:txBody>
          <a:bodyPr wrap="square">
            <a:spAutoFit/>
          </a:bodyPr>
          <a:lstStyle/>
          <a:p>
            <a:pPr algn="l">
              <a:spcAft>
                <a:spcPts val="1300"/>
              </a:spcAft>
            </a:pPr>
            <a:r>
              <a:rPr sz="1650" b="0" i="0">
                <a:solidFill>
                  <a:srgbClr val="33415C"/>
                </a:solidFill>
                <a:latin typeface="Times New Roman"/>
              </a:rPr>
              <a:t>•   14 automated tests on the forecasting pipeline; 67 on the companion system, CEREBRO.</a:t>
            </a:r>
          </a:p>
          <a:p>
            <a:pPr algn="l">
              <a:spcAft>
                <a:spcPts val="1300"/>
              </a:spcAft>
            </a:pPr>
            <a:r>
              <a:rPr sz="1650" b="0" i="0">
                <a:solidFill>
                  <a:srgbClr val="33415C"/>
                </a:solidFill>
                <a:latin typeface="Times New Roman"/>
              </a:rPr>
              <a:t>•   Toxicity classifier: 90.1% accuracy on real labelled data held back from training.</a:t>
            </a:r>
          </a:p>
          <a:p>
            <a:pPr algn="l">
              <a:spcAft>
                <a:spcPts val="1300"/>
              </a:spcAft>
            </a:pPr>
            <a:r>
              <a:rPr sz="1650" b="0" i="0">
                <a:solidFill>
                  <a:srgbClr val="33415C"/>
                </a:solidFill>
                <a:latin typeface="Times New Roman"/>
              </a:rPr>
              <a:t>•   Every number in our report comes from a script that can be run again.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Who Would Use It — and Why</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033271"/>
            <a:ext cx="118872" cy="914400"/>
          </a:xfrm>
          <a:prstGeom prst="roundRect">
            <a:avLst/>
          </a:prstGeom>
          <a:solidFill>
            <a:srgbClr val="7F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978407"/>
            <a:ext cx="3108960" cy="411480"/>
          </a:xfrm>
          <a:prstGeom prst="rect">
            <a:avLst/>
          </a:prstGeom>
          <a:noFill/>
        </p:spPr>
        <p:txBody>
          <a:bodyPr wrap="square">
            <a:spAutoFit/>
          </a:bodyPr>
          <a:lstStyle/>
          <a:p>
            <a:pPr algn="l">
              <a:spcAft>
                <a:spcPts val="1000"/>
              </a:spcAft>
            </a:pPr>
            <a:r>
              <a:rPr sz="1600" b="1" i="0">
                <a:solidFill>
                  <a:srgbClr val="33415C"/>
                </a:solidFill>
                <a:latin typeface="Times New Roman"/>
              </a:rPr>
              <a:t>Trust and Safety teams</a:t>
            </a:r>
          </a:p>
        </p:txBody>
      </p:sp>
      <p:sp>
        <p:nvSpPr>
          <p:cNvPr id="6" name="TextBox 5"/>
          <p:cNvSpPr txBox="1"/>
          <p:nvPr/>
        </p:nvSpPr>
        <p:spPr>
          <a:xfrm>
            <a:off x="777240" y="1353312"/>
            <a:ext cx="3108960" cy="457200"/>
          </a:xfrm>
          <a:prstGeom prst="rect">
            <a:avLst/>
          </a:prstGeom>
          <a:noFill/>
        </p:spPr>
        <p:txBody>
          <a:bodyPr wrap="square">
            <a:spAutoFit/>
          </a:bodyPr>
          <a:lstStyle/>
          <a:p>
            <a:pPr algn="l">
              <a:spcAft>
                <a:spcPts val="1000"/>
              </a:spcAft>
            </a:pPr>
            <a:r>
              <a:rPr sz="1150" b="0" i="1">
                <a:solidFill>
                  <a:srgbClr val="6B7A99"/>
                </a:solidFill>
                <a:latin typeface="Times New Roman"/>
              </a:rPr>
              <a:t>Reddit, Discord, Twitch, forum hosts</a:t>
            </a:r>
          </a:p>
        </p:txBody>
      </p:sp>
      <p:sp>
        <p:nvSpPr>
          <p:cNvPr id="7" name="TextBox 6"/>
          <p:cNvSpPr txBox="1"/>
          <p:nvPr/>
        </p:nvSpPr>
        <p:spPr>
          <a:xfrm>
            <a:off x="4069080" y="1033271"/>
            <a:ext cx="4572000" cy="914400"/>
          </a:xfrm>
          <a:prstGeom prst="rect">
            <a:avLst/>
          </a:prstGeom>
          <a:noFill/>
        </p:spPr>
        <p:txBody>
          <a:bodyPr wrap="square">
            <a:spAutoFit/>
          </a:bodyPr>
          <a:lstStyle/>
          <a:p>
            <a:pPr algn="l">
              <a:spcAft>
                <a:spcPts val="1000"/>
              </a:spcAft>
            </a:pPr>
            <a:r>
              <a:rPr sz="1400" b="0" i="0">
                <a:solidFill>
                  <a:srgbClr val="33415C"/>
                </a:solidFill>
                <a:latin typeface="Times New Roman"/>
              </a:rPr>
              <a:t>They cannot watch 500 communities at once. We tell them which ten to watch this week.</a:t>
            </a:r>
          </a:p>
        </p:txBody>
      </p:sp>
      <p:sp>
        <p:nvSpPr>
          <p:cNvPr id="8" name="Rounded Rectangle 7"/>
          <p:cNvSpPr/>
          <p:nvPr/>
        </p:nvSpPr>
        <p:spPr>
          <a:xfrm>
            <a:off x="502920" y="2103120"/>
            <a:ext cx="118872" cy="914400"/>
          </a:xfrm>
          <a:prstGeom prst="roundRect">
            <a:avLst/>
          </a:prstGeom>
          <a:solidFill>
            <a:srgbClr val="7FC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48255"/>
            <a:ext cx="3108960" cy="411480"/>
          </a:xfrm>
          <a:prstGeom prst="rect">
            <a:avLst/>
          </a:prstGeom>
          <a:noFill/>
        </p:spPr>
        <p:txBody>
          <a:bodyPr wrap="square">
            <a:spAutoFit/>
          </a:bodyPr>
          <a:lstStyle/>
          <a:p>
            <a:pPr algn="l">
              <a:spcAft>
                <a:spcPts val="1000"/>
              </a:spcAft>
            </a:pPr>
            <a:r>
              <a:rPr sz="1600" b="1" i="0">
                <a:solidFill>
                  <a:srgbClr val="33415C"/>
                </a:solidFill>
                <a:latin typeface="Times New Roman"/>
              </a:rPr>
              <a:t>Community platform vendors</a:t>
            </a:r>
          </a:p>
        </p:txBody>
      </p:sp>
      <p:sp>
        <p:nvSpPr>
          <p:cNvPr id="10" name="TextBox 9"/>
          <p:cNvSpPr txBox="1"/>
          <p:nvPr/>
        </p:nvSpPr>
        <p:spPr>
          <a:xfrm>
            <a:off x="777240" y="2423160"/>
            <a:ext cx="3108960" cy="457200"/>
          </a:xfrm>
          <a:prstGeom prst="rect">
            <a:avLst/>
          </a:prstGeom>
          <a:noFill/>
        </p:spPr>
        <p:txBody>
          <a:bodyPr wrap="square">
            <a:spAutoFit/>
          </a:bodyPr>
          <a:lstStyle/>
          <a:p>
            <a:pPr algn="l">
              <a:spcAft>
                <a:spcPts val="1000"/>
              </a:spcAft>
            </a:pPr>
            <a:r>
              <a:rPr sz="1150" b="0" i="1">
                <a:solidFill>
                  <a:srgbClr val="6B7A99"/>
                </a:solidFill>
                <a:latin typeface="Times New Roman"/>
              </a:rPr>
              <a:t>Discourse, Circle, Mighty Networks</a:t>
            </a:r>
          </a:p>
        </p:txBody>
      </p:sp>
      <p:sp>
        <p:nvSpPr>
          <p:cNvPr id="11" name="TextBox 10"/>
          <p:cNvSpPr txBox="1"/>
          <p:nvPr/>
        </p:nvSpPr>
        <p:spPr>
          <a:xfrm>
            <a:off x="4069080" y="2103120"/>
            <a:ext cx="4572000" cy="914400"/>
          </a:xfrm>
          <a:prstGeom prst="rect">
            <a:avLst/>
          </a:prstGeom>
          <a:noFill/>
        </p:spPr>
        <p:txBody>
          <a:bodyPr wrap="square">
            <a:spAutoFit/>
          </a:bodyPr>
          <a:lstStyle/>
          <a:p>
            <a:pPr algn="l">
              <a:spcAft>
                <a:spcPts val="1000"/>
              </a:spcAft>
            </a:pPr>
            <a:r>
              <a:rPr sz="1400" b="0" i="0">
                <a:solidFill>
                  <a:srgbClr val="33415C"/>
                </a:solidFill>
                <a:latin typeface="Times New Roman"/>
              </a:rPr>
              <a:t>A health feature they can resell to their own customers.</a:t>
            </a:r>
          </a:p>
        </p:txBody>
      </p:sp>
      <p:sp>
        <p:nvSpPr>
          <p:cNvPr id="12" name="Rounded Rectangle 11"/>
          <p:cNvSpPr/>
          <p:nvPr/>
        </p:nvSpPr>
        <p:spPr>
          <a:xfrm>
            <a:off x="502920" y="3172968"/>
            <a:ext cx="118872" cy="914400"/>
          </a:xfrm>
          <a:prstGeom prst="round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18103"/>
            <a:ext cx="3108960" cy="411480"/>
          </a:xfrm>
          <a:prstGeom prst="rect">
            <a:avLst/>
          </a:prstGeom>
          <a:noFill/>
        </p:spPr>
        <p:txBody>
          <a:bodyPr wrap="square">
            <a:spAutoFit/>
          </a:bodyPr>
          <a:lstStyle/>
          <a:p>
            <a:pPr algn="l">
              <a:spcAft>
                <a:spcPts val="1000"/>
              </a:spcAft>
            </a:pPr>
            <a:r>
              <a:rPr sz="1600" b="1" i="0">
                <a:solidFill>
                  <a:srgbClr val="33415C"/>
                </a:solidFill>
                <a:latin typeface="Times New Roman"/>
              </a:rPr>
              <a:t>Brand safety and advertising</a:t>
            </a:r>
          </a:p>
        </p:txBody>
      </p:sp>
      <p:sp>
        <p:nvSpPr>
          <p:cNvPr id="14" name="TextBox 13"/>
          <p:cNvSpPr txBox="1"/>
          <p:nvPr/>
        </p:nvSpPr>
        <p:spPr>
          <a:xfrm>
            <a:off x="777240" y="3493008"/>
            <a:ext cx="3108960" cy="457200"/>
          </a:xfrm>
          <a:prstGeom prst="rect">
            <a:avLst/>
          </a:prstGeom>
          <a:noFill/>
        </p:spPr>
        <p:txBody>
          <a:bodyPr wrap="square">
            <a:spAutoFit/>
          </a:bodyPr>
          <a:lstStyle/>
          <a:p>
            <a:pPr algn="l">
              <a:spcAft>
                <a:spcPts val="1000"/>
              </a:spcAft>
            </a:pPr>
            <a:r>
              <a:rPr sz="1150" b="0" i="1">
                <a:solidFill>
                  <a:srgbClr val="6B7A99"/>
                </a:solidFill>
                <a:latin typeface="Times New Roman"/>
              </a:rPr>
              <a:t>ad-verification firms</a:t>
            </a:r>
          </a:p>
        </p:txBody>
      </p:sp>
      <p:sp>
        <p:nvSpPr>
          <p:cNvPr id="15" name="TextBox 14"/>
          <p:cNvSpPr txBox="1"/>
          <p:nvPr/>
        </p:nvSpPr>
        <p:spPr>
          <a:xfrm>
            <a:off x="4069080" y="3172968"/>
            <a:ext cx="4572000" cy="914400"/>
          </a:xfrm>
          <a:prstGeom prst="rect">
            <a:avLst/>
          </a:prstGeom>
          <a:noFill/>
        </p:spPr>
        <p:txBody>
          <a:bodyPr wrap="square">
            <a:spAutoFit/>
          </a:bodyPr>
          <a:lstStyle/>
          <a:p>
            <a:pPr algn="l">
              <a:spcAft>
                <a:spcPts val="1000"/>
              </a:spcAft>
            </a:pPr>
            <a:r>
              <a:rPr sz="1400" b="0" i="0">
                <a:solidFill>
                  <a:srgbClr val="33415C"/>
                </a:solidFill>
                <a:latin typeface="Times New Roman"/>
              </a:rPr>
              <a:t>Advertisers pay to avoid deteriorating spaces — before the story breaks, not after.</a:t>
            </a:r>
          </a:p>
        </p:txBody>
      </p:sp>
      <p:sp>
        <p:nvSpPr>
          <p:cNvPr id="16" name="Rounded Rectangle 15"/>
          <p:cNvSpPr/>
          <p:nvPr/>
        </p:nvSpPr>
        <p:spPr>
          <a:xfrm>
            <a:off x="502920" y="4242816"/>
            <a:ext cx="118872" cy="914400"/>
          </a:xfrm>
          <a:prstGeom prst="roundRect">
            <a:avLst/>
          </a:prstGeom>
          <a:solidFill>
            <a:srgbClr val="A9C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87952"/>
            <a:ext cx="3108960" cy="411480"/>
          </a:xfrm>
          <a:prstGeom prst="rect">
            <a:avLst/>
          </a:prstGeom>
          <a:noFill/>
        </p:spPr>
        <p:txBody>
          <a:bodyPr wrap="square">
            <a:spAutoFit/>
          </a:bodyPr>
          <a:lstStyle/>
          <a:p>
            <a:pPr algn="l">
              <a:spcAft>
                <a:spcPts val="1000"/>
              </a:spcAft>
            </a:pPr>
            <a:r>
              <a:rPr sz="1600" b="1" i="0">
                <a:solidFill>
                  <a:srgbClr val="33415C"/>
                </a:solidFill>
                <a:latin typeface="Times New Roman"/>
              </a:rPr>
              <a:t>Large organisations</a:t>
            </a:r>
          </a:p>
        </p:txBody>
      </p:sp>
      <p:sp>
        <p:nvSpPr>
          <p:cNvPr id="18" name="TextBox 17"/>
          <p:cNvSpPr txBox="1"/>
          <p:nvPr/>
        </p:nvSpPr>
        <p:spPr>
          <a:xfrm>
            <a:off x="777240" y="4562855"/>
            <a:ext cx="3108960" cy="457200"/>
          </a:xfrm>
          <a:prstGeom prst="rect">
            <a:avLst/>
          </a:prstGeom>
          <a:noFill/>
        </p:spPr>
        <p:txBody>
          <a:bodyPr wrap="square">
            <a:spAutoFit/>
          </a:bodyPr>
          <a:lstStyle/>
          <a:p>
            <a:pPr algn="l">
              <a:spcAft>
                <a:spcPts val="1000"/>
              </a:spcAft>
            </a:pPr>
            <a:r>
              <a:rPr sz="1150" b="0" i="1">
                <a:solidFill>
                  <a:srgbClr val="6B7A99"/>
                </a:solidFill>
                <a:latin typeface="Times New Roman"/>
              </a:rPr>
              <a:t>internal Slack and Teams communities</a:t>
            </a:r>
          </a:p>
        </p:txBody>
      </p:sp>
      <p:sp>
        <p:nvSpPr>
          <p:cNvPr id="19" name="TextBox 18"/>
          <p:cNvSpPr txBox="1"/>
          <p:nvPr/>
        </p:nvSpPr>
        <p:spPr>
          <a:xfrm>
            <a:off x="4069080" y="4242816"/>
            <a:ext cx="4572000" cy="914400"/>
          </a:xfrm>
          <a:prstGeom prst="rect">
            <a:avLst/>
          </a:prstGeom>
          <a:noFill/>
        </p:spPr>
        <p:txBody>
          <a:bodyPr wrap="square">
            <a:spAutoFit/>
          </a:bodyPr>
          <a:lstStyle/>
          <a:p>
            <a:pPr algn="l">
              <a:spcAft>
                <a:spcPts val="1000"/>
              </a:spcAft>
            </a:pPr>
            <a:r>
              <a:rPr sz="1400" b="0" i="0">
                <a:solidFill>
                  <a:srgbClr val="33415C"/>
                </a:solidFill>
                <a:latin typeface="Times New Roman"/>
              </a:rPr>
              <a:t>Culture problems usually surface far too late.</a:t>
            </a:r>
          </a:p>
        </p:txBody>
      </p:sp>
      <p:sp>
        <p:nvSpPr>
          <p:cNvPr id="20" name="TextBox 19"/>
          <p:cNvSpPr txBox="1"/>
          <p:nvPr/>
        </p:nvSpPr>
        <p:spPr>
          <a:xfrm>
            <a:off x="502920" y="5230368"/>
            <a:ext cx="8138160" cy="457200"/>
          </a:xfrm>
          <a:prstGeom prst="rect">
            <a:avLst/>
          </a:prstGeom>
          <a:noFill/>
        </p:spPr>
        <p:txBody>
          <a:bodyPr wrap="square">
            <a:spAutoFit/>
          </a:bodyPr>
          <a:lstStyle/>
          <a:p>
            <a:pPr algn="ctr">
              <a:spcAft>
                <a:spcPts val="1000"/>
              </a:spcAft>
            </a:pPr>
            <a:r>
              <a:rPr sz="1400" b="0" i="1">
                <a:solidFill>
                  <a:srgbClr val="6B7A99"/>
                </a:solidFill>
                <a:latin typeface="Times New Roman"/>
              </a:rPr>
              <a:t>Why buy rather than build: the hard part is knowing what to measure — and we measured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Industry Relevance and the SDGs</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33271"/>
            <a:ext cx="8138160" cy="502920"/>
          </a:xfrm>
          <a:prstGeom prst="rect">
            <a:avLst/>
          </a:prstGeom>
          <a:noFill/>
        </p:spPr>
        <p:txBody>
          <a:bodyPr wrap="square">
            <a:spAutoFit/>
          </a:bodyPr>
          <a:lstStyle/>
          <a:p>
            <a:pPr algn="l">
              <a:spcAft>
                <a:spcPts val="1000"/>
              </a:spcAft>
            </a:pPr>
            <a:r>
              <a:rPr sz="1700" b="1" i="0">
                <a:solidFill>
                  <a:srgbClr val="33415C"/>
                </a:solidFill>
                <a:latin typeface="Times New Roman"/>
              </a:rPr>
              <a:t>Industry:  Trust and Safety — where social platforms, brand safety and regulation meet.</a:t>
            </a:r>
          </a:p>
        </p:txBody>
      </p:sp>
      <p:sp>
        <p:nvSpPr>
          <p:cNvPr id="5" name="Rounded Rectangle 4"/>
          <p:cNvSpPr/>
          <p:nvPr/>
        </p:nvSpPr>
        <p:spPr>
          <a:xfrm>
            <a:off x="502920" y="1627631"/>
            <a:ext cx="3977639" cy="1371600"/>
          </a:xfrm>
          <a:prstGeom prst="roundRect">
            <a:avLst/>
          </a:prstGeom>
          <a:solidFill>
            <a:srgbClr val="F5F8FC"/>
          </a:solidFill>
          <a:ln w="22225">
            <a:solidFill>
              <a:srgbClr val="7FC0B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SDG 16</a:t>
            </a:r>
          </a:p>
          <a:p>
            <a:pPr algn="ctr"/>
            <a:r>
              <a:rPr sz="1200">
                <a:solidFill>
                  <a:srgbClr val="6B7A99"/>
                </a:solidFill>
                <a:latin typeface="Times New Roman"/>
              </a:rPr>
              <a:t>Peace, Justice and Strong Institutions</a:t>
            </a:r>
          </a:p>
        </p:txBody>
      </p:sp>
      <p:sp>
        <p:nvSpPr>
          <p:cNvPr id="6" name="Rounded Rectangle 5"/>
          <p:cNvSpPr/>
          <p:nvPr/>
        </p:nvSpPr>
        <p:spPr>
          <a:xfrm>
            <a:off x="4663440" y="1627631"/>
            <a:ext cx="3977639" cy="1371600"/>
          </a:xfrm>
          <a:prstGeom prst="roundRect">
            <a:avLst/>
          </a:prstGeom>
          <a:solidFill>
            <a:srgbClr val="F5F8FC"/>
          </a:solidFill>
          <a:ln w="22225">
            <a:solidFill>
              <a:srgbClr val="7FA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A3A5C"/>
                </a:solidFill>
                <a:latin typeface="Times New Roman"/>
              </a:rPr>
              <a:t>SDG 9</a:t>
            </a:r>
          </a:p>
          <a:p>
            <a:pPr algn="ctr"/>
            <a:r>
              <a:rPr sz="1200">
                <a:solidFill>
                  <a:srgbClr val="6B7A99"/>
                </a:solidFill>
                <a:latin typeface="Times New Roman"/>
              </a:rPr>
              <a:t>Industry, Innovation and Infrastructure</a:t>
            </a:r>
          </a:p>
        </p:txBody>
      </p:sp>
      <p:sp>
        <p:nvSpPr>
          <p:cNvPr id="7" name="TextBox 6"/>
          <p:cNvSpPr txBox="1"/>
          <p:nvPr/>
        </p:nvSpPr>
        <p:spPr>
          <a:xfrm>
            <a:off x="548640" y="3182111"/>
            <a:ext cx="3886200" cy="1828800"/>
          </a:xfrm>
          <a:prstGeom prst="rect">
            <a:avLst/>
          </a:prstGeom>
          <a:noFill/>
        </p:spPr>
        <p:txBody>
          <a:bodyPr wrap="square">
            <a:spAutoFit/>
          </a:bodyPr>
          <a:lstStyle/>
          <a:p>
            <a:pPr algn="l">
              <a:spcAft>
                <a:spcPts val="1000"/>
              </a:spcAft>
            </a:pPr>
            <a:r>
              <a:rPr sz="1450" b="0" i="0">
                <a:solidFill>
                  <a:srgbClr val="33415C"/>
                </a:solidFill>
                <a:latin typeface="Times New Roman"/>
              </a:rPr>
              <a:t>Target 16.1 — reduce violence.</a:t>
            </a:r>
          </a:p>
          <a:p>
            <a:pPr algn="l">
              <a:spcAft>
                <a:spcPts val="1000"/>
              </a:spcAft>
            </a:pPr>
            <a:r>
              <a:rPr sz="1450" b="0" i="0">
                <a:solidFill>
                  <a:srgbClr val="33415C"/>
                </a:solidFill>
                <a:latin typeface="Times New Roman"/>
              </a:rPr>
              <a:t>Online hostility and harassment come before real-world harm. Acting earlier means acting before it spreads.</a:t>
            </a:r>
          </a:p>
        </p:txBody>
      </p:sp>
      <p:sp>
        <p:nvSpPr>
          <p:cNvPr id="8" name="TextBox 7"/>
          <p:cNvSpPr txBox="1"/>
          <p:nvPr/>
        </p:nvSpPr>
        <p:spPr>
          <a:xfrm>
            <a:off x="4709160" y="3182111"/>
            <a:ext cx="3886200" cy="1828800"/>
          </a:xfrm>
          <a:prstGeom prst="rect">
            <a:avLst/>
          </a:prstGeom>
          <a:noFill/>
        </p:spPr>
        <p:txBody>
          <a:bodyPr wrap="square">
            <a:spAutoFit/>
          </a:bodyPr>
          <a:lstStyle/>
          <a:p>
            <a:pPr algn="l">
              <a:spcAft>
                <a:spcPts val="1000"/>
              </a:spcAft>
            </a:pPr>
            <a:r>
              <a:rPr sz="1450" b="0" i="0">
                <a:solidFill>
                  <a:srgbClr val="33415C"/>
                </a:solidFill>
                <a:latin typeface="Times New Roman"/>
              </a:rPr>
              <a:t>Target 9.5 — build research capability.</a:t>
            </a:r>
          </a:p>
          <a:p>
            <a:pPr algn="l">
              <a:spcAft>
                <a:spcPts val="1000"/>
              </a:spcAft>
            </a:pPr>
            <a:r>
              <a:rPr sz="1450" b="0" i="0">
                <a:solidFill>
                  <a:srgbClr val="33415C"/>
                </a:solidFill>
                <a:latin typeface="Times New Roman"/>
              </a:rPr>
              <a:t>The API, the monitoring stack and the published benchmark are reusable infrastructure, not a one-off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Timeline — Planned Against Delivered</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imeline_chart.png"/>
          <p:cNvPicPr>
            <a:picLocks noChangeAspect="1"/>
          </p:cNvPicPr>
          <p:nvPr/>
        </p:nvPicPr>
        <p:blipFill>
          <a:blip r:embed="rId2"/>
          <a:stretch>
            <a:fillRect/>
          </a:stretch>
        </p:blipFill>
        <p:spPr>
          <a:xfrm>
            <a:off x="685800" y="1005839"/>
            <a:ext cx="7772400" cy="3815542"/>
          </a:xfrm>
          <a:prstGeom prst="rect">
            <a:avLst/>
          </a:prstGeom>
        </p:spPr>
      </p:pic>
      <p:sp>
        <p:nvSpPr>
          <p:cNvPr id="5" name="TextBox 4"/>
          <p:cNvSpPr txBox="1"/>
          <p:nvPr/>
        </p:nvSpPr>
        <p:spPr>
          <a:xfrm>
            <a:off x="502920" y="5285232"/>
            <a:ext cx="8138160" cy="457200"/>
          </a:xfrm>
          <a:prstGeom prst="rect">
            <a:avLst/>
          </a:prstGeom>
          <a:noFill/>
        </p:spPr>
        <p:txBody>
          <a:bodyPr wrap="square">
            <a:spAutoFit/>
          </a:bodyPr>
          <a:lstStyle/>
          <a:p>
            <a:pPr algn="ctr">
              <a:spcAft>
                <a:spcPts val="1000"/>
              </a:spcAft>
            </a:pPr>
            <a:r>
              <a:rPr sz="1400" b="0" i="1">
                <a:solidFill>
                  <a:srgbClr val="6B7A99"/>
                </a:solidFill>
                <a:latin typeface="Times New Roman"/>
              </a:rPr>
              <a:t>Weeks 4 to 6 were not in the plan — we found real problems in our own data and stopped to fix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What We Are Honest About</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60704"/>
            <a:ext cx="8138160" cy="4114800"/>
          </a:xfrm>
          <a:prstGeom prst="rect">
            <a:avLst/>
          </a:prstGeom>
          <a:noFill/>
        </p:spPr>
        <p:txBody>
          <a:bodyPr wrap="square">
            <a:spAutoFit/>
          </a:bodyPr>
          <a:lstStyle/>
          <a:p>
            <a:pPr algn="l">
              <a:spcAft>
                <a:spcPts val="1500"/>
              </a:spcAft>
            </a:pPr>
            <a:r>
              <a:rPr sz="1600" b="0" i="0">
                <a:solidFill>
                  <a:srgbClr val="33415C"/>
                </a:solidFill>
                <a:latin typeface="Times New Roman"/>
              </a:rPr>
              <a:t>•   Our ground truth is planted, not observed — we know which communities we made unstable, because nobody publishes a list of real ones.</a:t>
            </a:r>
          </a:p>
          <a:p>
            <a:pPr algn="l">
              <a:spcAft>
                <a:spcPts val="1500"/>
              </a:spcAft>
            </a:pPr>
            <a:r>
              <a:rPr sz="1600" b="0" i="0">
                <a:solidFill>
                  <a:srgbClr val="33415C"/>
                </a:solidFill>
                <a:latin typeface="Times New Roman"/>
              </a:rPr>
              <a:t>•   So the instability score of 1.000 shows the pipeline is wired correctly, not that it is that accurate in the real world.</a:t>
            </a:r>
          </a:p>
          <a:p>
            <a:pPr algn="l">
              <a:spcAft>
                <a:spcPts val="1500"/>
              </a:spcAft>
            </a:pPr>
            <a:r>
              <a:rPr sz="1600" b="0" i="0">
                <a:solidFill>
                  <a:srgbClr val="33415C"/>
                </a:solidFill>
                <a:latin typeface="Times New Roman"/>
              </a:rPr>
              <a:t>•   The misinformation model was trained on news articles. On short posts it flags almost everything, so we publish no rate from it.</a:t>
            </a:r>
          </a:p>
          <a:p>
            <a:pPr algn="l">
              <a:spcAft>
                <a:spcPts val="1500"/>
              </a:spcAft>
            </a:pPr>
            <a:r>
              <a:rPr sz="1600" b="0" i="0">
                <a:solidFill>
                  <a:srgbClr val="33415C"/>
                </a:solidFill>
                <a:latin typeface="Times New Roman"/>
              </a:rPr>
              <a:t>•   Evaluation is single-fold; we do not yet report confidence intervals.</a:t>
            </a:r>
          </a:p>
          <a:p>
            <a:pPr algn="l">
              <a:spcAft>
                <a:spcPts val="1500"/>
              </a:spcAft>
            </a:pPr>
            <a:r>
              <a:rPr sz="1600" b="0" i="0">
                <a:solidFill>
                  <a:srgbClr val="33415C"/>
                </a:solidFill>
                <a:latin typeface="Times New Roman"/>
              </a:rPr>
              <a:t>•   English only.</a:t>
            </a:r>
          </a:p>
        </p:txBody>
      </p:sp>
      <p:sp>
        <p:nvSpPr>
          <p:cNvPr id="5" name="TextBox 4"/>
          <p:cNvSpPr txBox="1"/>
          <p:nvPr/>
        </p:nvSpPr>
        <p:spPr>
          <a:xfrm>
            <a:off x="502920" y="5230368"/>
            <a:ext cx="8138160" cy="457200"/>
          </a:xfrm>
          <a:prstGeom prst="rect">
            <a:avLst/>
          </a:prstGeom>
          <a:noFill/>
        </p:spPr>
        <p:txBody>
          <a:bodyPr wrap="square">
            <a:spAutoFit/>
          </a:bodyPr>
          <a:lstStyle/>
          <a:p>
            <a:pPr algn="ctr">
              <a:spcAft>
                <a:spcPts val="1000"/>
              </a:spcAft>
            </a:pPr>
            <a:r>
              <a:rPr sz="1450" b="0" i="1">
                <a:solidFill>
                  <a:srgbClr val="6B7A99"/>
                </a:solidFill>
                <a:latin typeface="Times New Roman"/>
              </a:rPr>
              <a:t>Stating the limits is what makes the other numbers believable.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Next Steps</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1033271"/>
            <a:ext cx="438912" cy="438912"/>
          </a:xfrm>
          <a:prstGeom prst="ellipse">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1</a:t>
            </a:r>
          </a:p>
        </p:txBody>
      </p:sp>
      <p:sp>
        <p:nvSpPr>
          <p:cNvPr id="5" name="TextBox 4"/>
          <p:cNvSpPr txBox="1"/>
          <p:nvPr/>
        </p:nvSpPr>
        <p:spPr>
          <a:xfrm>
            <a:off x="1097280" y="960119"/>
            <a:ext cx="7543800" cy="411480"/>
          </a:xfrm>
          <a:prstGeom prst="rect">
            <a:avLst/>
          </a:prstGeom>
          <a:noFill/>
        </p:spPr>
        <p:txBody>
          <a:bodyPr wrap="square">
            <a:spAutoFit/>
          </a:bodyPr>
          <a:lstStyle/>
          <a:p>
            <a:pPr algn="l">
              <a:spcAft>
                <a:spcPts val="1000"/>
              </a:spcAft>
            </a:pPr>
            <a:r>
              <a:rPr sz="1600" b="1" i="0">
                <a:solidFill>
                  <a:srgbClr val="33415C"/>
                </a:solidFill>
                <a:latin typeface="Times New Roman"/>
              </a:rPr>
              <a:t>Real ground truth</a:t>
            </a:r>
          </a:p>
        </p:txBody>
      </p:sp>
      <p:sp>
        <p:nvSpPr>
          <p:cNvPr id="6" name="TextBox 5"/>
          <p:cNvSpPr txBox="1"/>
          <p:nvPr/>
        </p:nvSpPr>
        <p:spPr>
          <a:xfrm>
            <a:off x="1097280" y="1325880"/>
            <a:ext cx="7543800" cy="548640"/>
          </a:xfrm>
          <a:prstGeom prst="rect">
            <a:avLst/>
          </a:prstGeom>
          <a:noFill/>
        </p:spPr>
        <p:txBody>
          <a:bodyPr wrap="square">
            <a:spAutoFit/>
          </a:bodyPr>
          <a:lstStyle/>
          <a:p>
            <a:pPr algn="l">
              <a:spcAft>
                <a:spcPts val="1000"/>
              </a:spcAft>
            </a:pPr>
            <a:r>
              <a:rPr sz="1300" b="0" i="0">
                <a:solidFill>
                  <a:srgbClr val="6B7A99"/>
                </a:solidFill>
                <a:latin typeface="Times New Roman"/>
              </a:rPr>
              <a:t>Reddit publishes quarantine and ban dates. Train up to 60 days before each one, then check whether we flagged it first.</a:t>
            </a:r>
          </a:p>
        </p:txBody>
      </p:sp>
      <p:sp>
        <p:nvSpPr>
          <p:cNvPr id="7" name="Oval 6"/>
          <p:cNvSpPr/>
          <p:nvPr/>
        </p:nvSpPr>
        <p:spPr>
          <a:xfrm>
            <a:off x="502920" y="1938528"/>
            <a:ext cx="438912" cy="438912"/>
          </a:xfrm>
          <a:prstGeom prst="ellipse">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2</a:t>
            </a:r>
          </a:p>
        </p:txBody>
      </p:sp>
      <p:sp>
        <p:nvSpPr>
          <p:cNvPr id="8" name="TextBox 7"/>
          <p:cNvSpPr txBox="1"/>
          <p:nvPr/>
        </p:nvSpPr>
        <p:spPr>
          <a:xfrm>
            <a:off x="1097280" y="1865376"/>
            <a:ext cx="7543800" cy="411480"/>
          </a:xfrm>
          <a:prstGeom prst="rect">
            <a:avLst/>
          </a:prstGeom>
          <a:noFill/>
        </p:spPr>
        <p:txBody>
          <a:bodyPr wrap="square">
            <a:spAutoFit/>
          </a:bodyPr>
          <a:lstStyle/>
          <a:p>
            <a:pPr algn="l">
              <a:spcAft>
                <a:spcPts val="1000"/>
              </a:spcAft>
            </a:pPr>
            <a:r>
              <a:rPr sz="1600" b="1" i="0">
                <a:solidFill>
                  <a:srgbClr val="33415C"/>
                </a:solidFill>
                <a:latin typeface="Times New Roman"/>
              </a:rPr>
              <a:t>Longer history</a:t>
            </a:r>
          </a:p>
        </p:txBody>
      </p:sp>
      <p:sp>
        <p:nvSpPr>
          <p:cNvPr id="9" name="TextBox 8"/>
          <p:cNvSpPr txBox="1"/>
          <p:nvPr/>
        </p:nvSpPr>
        <p:spPr>
          <a:xfrm>
            <a:off x="1097280" y="2231136"/>
            <a:ext cx="7543800" cy="548640"/>
          </a:xfrm>
          <a:prstGeom prst="rect">
            <a:avLst/>
          </a:prstGeom>
          <a:noFill/>
        </p:spPr>
        <p:txBody>
          <a:bodyPr wrap="square">
            <a:spAutoFit/>
          </a:bodyPr>
          <a:lstStyle/>
          <a:p>
            <a:pPr algn="l">
              <a:spcAft>
                <a:spcPts val="1000"/>
              </a:spcAft>
            </a:pPr>
            <a:r>
              <a:rPr sz="1300" b="0" i="0">
                <a:solidFill>
                  <a:srgbClr val="6B7A99"/>
                </a:solidFill>
                <a:latin typeface="Times New Roman"/>
              </a:rPr>
              <a:t>Extend to 18–24 months per community using bulk archives.</a:t>
            </a:r>
          </a:p>
        </p:txBody>
      </p:sp>
      <p:sp>
        <p:nvSpPr>
          <p:cNvPr id="10" name="Oval 9"/>
          <p:cNvSpPr/>
          <p:nvPr/>
        </p:nvSpPr>
        <p:spPr>
          <a:xfrm>
            <a:off x="502920" y="2843784"/>
            <a:ext cx="438912" cy="438912"/>
          </a:xfrm>
          <a:prstGeom prst="ellipse">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3</a:t>
            </a:r>
          </a:p>
        </p:txBody>
      </p:sp>
      <p:sp>
        <p:nvSpPr>
          <p:cNvPr id="11" name="TextBox 10"/>
          <p:cNvSpPr txBox="1"/>
          <p:nvPr/>
        </p:nvSpPr>
        <p:spPr>
          <a:xfrm>
            <a:off x="1097280" y="2770632"/>
            <a:ext cx="7543800" cy="411480"/>
          </a:xfrm>
          <a:prstGeom prst="rect">
            <a:avLst/>
          </a:prstGeom>
          <a:noFill/>
        </p:spPr>
        <p:txBody>
          <a:bodyPr wrap="square">
            <a:spAutoFit/>
          </a:bodyPr>
          <a:lstStyle/>
          <a:p>
            <a:pPr algn="l">
              <a:spcAft>
                <a:spcPts val="1000"/>
              </a:spcAft>
            </a:pPr>
            <a:r>
              <a:rPr sz="1600" b="1" i="0">
                <a:solidFill>
                  <a:srgbClr val="33415C"/>
                </a:solidFill>
                <a:latin typeface="Times New Roman"/>
              </a:rPr>
              <a:t>Wire the graph model into the health score</a:t>
            </a:r>
          </a:p>
        </p:txBody>
      </p:sp>
      <p:sp>
        <p:nvSpPr>
          <p:cNvPr id="12" name="TextBox 11"/>
          <p:cNvSpPr txBox="1"/>
          <p:nvPr/>
        </p:nvSpPr>
        <p:spPr>
          <a:xfrm>
            <a:off x="1097280" y="3136392"/>
            <a:ext cx="7543800" cy="548640"/>
          </a:xfrm>
          <a:prstGeom prst="rect">
            <a:avLst/>
          </a:prstGeom>
          <a:noFill/>
        </p:spPr>
        <p:txBody>
          <a:bodyPr wrap="square">
            <a:spAutoFit/>
          </a:bodyPr>
          <a:lstStyle/>
          <a:p>
            <a:pPr algn="l">
              <a:spcAft>
                <a:spcPts val="1000"/>
              </a:spcAft>
            </a:pPr>
            <a:r>
              <a:rPr sz="1300" b="0" i="0">
                <a:solidFill>
                  <a:srgbClr val="6B7A99"/>
                </a:solidFill>
                <a:latin typeface="Times New Roman"/>
              </a:rPr>
              <a:t>Now that it is measured, we know what it does and does not add.</a:t>
            </a:r>
          </a:p>
        </p:txBody>
      </p:sp>
      <p:sp>
        <p:nvSpPr>
          <p:cNvPr id="13" name="Oval 12"/>
          <p:cNvSpPr/>
          <p:nvPr/>
        </p:nvSpPr>
        <p:spPr>
          <a:xfrm>
            <a:off x="502920" y="3749040"/>
            <a:ext cx="438912" cy="438912"/>
          </a:xfrm>
          <a:prstGeom prst="ellipse">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4</a:t>
            </a:r>
          </a:p>
        </p:txBody>
      </p:sp>
      <p:sp>
        <p:nvSpPr>
          <p:cNvPr id="14" name="TextBox 13"/>
          <p:cNvSpPr txBox="1"/>
          <p:nvPr/>
        </p:nvSpPr>
        <p:spPr>
          <a:xfrm>
            <a:off x="1097280" y="3675888"/>
            <a:ext cx="7543800" cy="411480"/>
          </a:xfrm>
          <a:prstGeom prst="rect">
            <a:avLst/>
          </a:prstGeom>
          <a:noFill/>
        </p:spPr>
        <p:txBody>
          <a:bodyPr wrap="square">
            <a:spAutoFit/>
          </a:bodyPr>
          <a:lstStyle/>
          <a:p>
            <a:pPr algn="l">
              <a:spcAft>
                <a:spcPts val="1000"/>
              </a:spcAft>
            </a:pPr>
            <a:r>
              <a:rPr sz="1600" b="1" i="0">
                <a:solidFill>
                  <a:srgbClr val="33415C"/>
                </a:solidFill>
                <a:latin typeface="Times New Roman"/>
              </a:rPr>
              <a:t>Retrain on the right data</a:t>
            </a:r>
          </a:p>
        </p:txBody>
      </p:sp>
      <p:sp>
        <p:nvSpPr>
          <p:cNvPr id="15" name="TextBox 14"/>
          <p:cNvSpPr txBox="1"/>
          <p:nvPr/>
        </p:nvSpPr>
        <p:spPr>
          <a:xfrm>
            <a:off x="1097280" y="4041648"/>
            <a:ext cx="7543800" cy="548640"/>
          </a:xfrm>
          <a:prstGeom prst="rect">
            <a:avLst/>
          </a:prstGeom>
          <a:noFill/>
        </p:spPr>
        <p:txBody>
          <a:bodyPr wrap="square">
            <a:spAutoFit/>
          </a:bodyPr>
          <a:lstStyle/>
          <a:p>
            <a:pPr algn="l">
              <a:spcAft>
                <a:spcPts val="1000"/>
              </a:spcAft>
            </a:pPr>
            <a:r>
              <a:rPr sz="1300" b="0" i="0">
                <a:solidFill>
                  <a:srgbClr val="6B7A99"/>
                </a:solidFill>
                <a:latin typeface="Times New Roman"/>
              </a:rPr>
              <a:t>Misinformation on social text; the recommender on real moderator decisions.</a:t>
            </a:r>
          </a:p>
        </p:txBody>
      </p:sp>
      <p:sp>
        <p:nvSpPr>
          <p:cNvPr id="16" name="Oval 15"/>
          <p:cNvSpPr/>
          <p:nvPr/>
        </p:nvSpPr>
        <p:spPr>
          <a:xfrm>
            <a:off x="502920" y="4654296"/>
            <a:ext cx="438912" cy="438912"/>
          </a:xfrm>
          <a:prstGeom prst="ellipse">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Times New Roman"/>
              </a:rPr>
              <a:t>5</a:t>
            </a:r>
          </a:p>
        </p:txBody>
      </p:sp>
      <p:sp>
        <p:nvSpPr>
          <p:cNvPr id="17" name="TextBox 16"/>
          <p:cNvSpPr txBox="1"/>
          <p:nvPr/>
        </p:nvSpPr>
        <p:spPr>
          <a:xfrm>
            <a:off x="1097280" y="4581144"/>
            <a:ext cx="7543800" cy="411480"/>
          </a:xfrm>
          <a:prstGeom prst="rect">
            <a:avLst/>
          </a:prstGeom>
          <a:noFill/>
        </p:spPr>
        <p:txBody>
          <a:bodyPr wrap="square">
            <a:spAutoFit/>
          </a:bodyPr>
          <a:lstStyle/>
          <a:p>
            <a:pPr algn="l">
              <a:spcAft>
                <a:spcPts val="1000"/>
              </a:spcAft>
            </a:pPr>
            <a:r>
              <a:rPr sz="1600" b="1" i="0">
                <a:solidFill>
                  <a:srgbClr val="33415C"/>
                </a:solidFill>
                <a:latin typeface="Times New Roman"/>
              </a:rPr>
              <a:t>Publish the benchmark</a:t>
            </a:r>
          </a:p>
        </p:txBody>
      </p:sp>
      <p:sp>
        <p:nvSpPr>
          <p:cNvPr id="18" name="TextBox 17"/>
          <p:cNvSpPr txBox="1"/>
          <p:nvPr/>
        </p:nvSpPr>
        <p:spPr>
          <a:xfrm>
            <a:off x="1097280" y="4946904"/>
            <a:ext cx="7543800" cy="548640"/>
          </a:xfrm>
          <a:prstGeom prst="rect">
            <a:avLst/>
          </a:prstGeom>
          <a:noFill/>
        </p:spPr>
        <p:txBody>
          <a:bodyPr wrap="square">
            <a:spAutoFit/>
          </a:bodyPr>
          <a:lstStyle/>
          <a:p>
            <a:pPr algn="l">
              <a:spcAft>
                <a:spcPts val="1000"/>
              </a:spcAft>
            </a:pPr>
            <a:r>
              <a:rPr sz="1300" b="0" i="0">
                <a:solidFill>
                  <a:srgbClr val="6B7A99"/>
                </a:solidFill>
                <a:latin typeface="Times New Roman"/>
              </a:rPr>
              <a:t>Release the corpus and ground truth so others can reproduce our results.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8138160" cy="640080"/>
          </a:xfrm>
          <a:prstGeom prst="rect">
            <a:avLst/>
          </a:prstGeom>
          <a:noFill/>
        </p:spPr>
        <p:txBody>
          <a:bodyPr wrap="none">
            <a:spAutoFit/>
          </a:bodyPr>
          <a:lstStyle/>
          <a:p>
            <a:r>
              <a:rPr sz="3000" b="1">
                <a:solidFill>
                  <a:srgbClr val="2A3A5C"/>
                </a:solidFill>
                <a:latin typeface="Times New Roman"/>
              </a:rPr>
              <a:t>Conclusion</a:t>
            </a:r>
          </a:p>
        </p:txBody>
      </p:sp>
      <p:sp>
        <p:nvSpPr>
          <p:cNvPr id="3" name="Rectangle 2"/>
          <p:cNvSpPr/>
          <p:nvPr/>
        </p:nvSpPr>
        <p:spPr>
          <a:xfrm>
            <a:off x="530352" y="91440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33271"/>
            <a:ext cx="8138160" cy="502920"/>
          </a:xfrm>
          <a:prstGeom prst="rect">
            <a:avLst/>
          </a:prstGeom>
          <a:noFill/>
        </p:spPr>
        <p:txBody>
          <a:bodyPr wrap="square">
            <a:spAutoFit/>
          </a:bodyPr>
          <a:lstStyle/>
          <a:p>
            <a:pPr algn="l">
              <a:spcAft>
                <a:spcPts val="1000"/>
              </a:spcAft>
            </a:pPr>
            <a:r>
              <a:rPr sz="1850" b="1" i="0">
                <a:solidFill>
                  <a:srgbClr val="33415C"/>
                </a:solidFill>
                <a:latin typeface="Times New Roman"/>
              </a:rPr>
              <a:t>We set out to predict community breakdown instead of reacting to it.</a:t>
            </a:r>
          </a:p>
        </p:txBody>
      </p:sp>
      <p:sp>
        <p:nvSpPr>
          <p:cNvPr id="5" name="TextBox 4"/>
          <p:cNvSpPr txBox="1"/>
          <p:nvPr/>
        </p:nvSpPr>
        <p:spPr>
          <a:xfrm>
            <a:off x="502920" y="1673352"/>
            <a:ext cx="8138160" cy="3017520"/>
          </a:xfrm>
          <a:prstGeom prst="rect">
            <a:avLst/>
          </a:prstGeom>
          <a:noFill/>
        </p:spPr>
        <p:txBody>
          <a:bodyPr wrap="square">
            <a:spAutoFit/>
          </a:bodyPr>
          <a:lstStyle/>
          <a:p>
            <a:pPr algn="l">
              <a:spcAft>
                <a:spcPts val="1400"/>
              </a:spcAft>
            </a:pPr>
            <a:r>
              <a:rPr sz="1700" b="0" i="0">
                <a:solidFill>
                  <a:srgbClr val="33415C"/>
                </a:solidFill>
                <a:latin typeface="Times New Roman"/>
              </a:rPr>
              <a:t>•   We built it — five layers, from a single comment to a five-day forecast, deployed and publicly reachable.</a:t>
            </a:r>
          </a:p>
          <a:p>
            <a:pPr algn="l">
              <a:spcAft>
                <a:spcPts val="1400"/>
              </a:spcAft>
            </a:pPr>
            <a:r>
              <a:rPr sz="1700" b="0" i="0">
                <a:solidFill>
                  <a:srgbClr val="33415C"/>
                </a:solidFill>
                <a:latin typeface="Times New Roman"/>
              </a:rPr>
              <a:t>•   We tested it honestly, and found our own health score was the weakest signal we had.</a:t>
            </a:r>
          </a:p>
          <a:p>
            <a:pPr algn="l">
              <a:spcAft>
                <a:spcPts val="1400"/>
              </a:spcAft>
            </a:pPr>
            <a:r>
              <a:rPr sz="1700" b="0" i="0">
                <a:solidFill>
                  <a:srgbClr val="33415C"/>
                </a:solidFill>
                <a:latin typeface="Times New Roman"/>
              </a:rPr>
              <a:t>•   We fixed it — then a second model failed the same way, which turned one result into a general one.</a:t>
            </a:r>
          </a:p>
          <a:p>
            <a:pPr algn="l">
              <a:spcAft>
                <a:spcPts val="1400"/>
              </a:spcAft>
            </a:pPr>
            <a:r>
              <a:rPr sz="1700" b="0" i="0">
                <a:solidFill>
                  <a:srgbClr val="33415C"/>
                </a:solidFill>
                <a:latin typeface="Times New Roman"/>
              </a:rPr>
              <a:t>•   It runs on real Reddit data, collected without any API key.</a:t>
            </a:r>
          </a:p>
        </p:txBody>
      </p:sp>
      <p:sp>
        <p:nvSpPr>
          <p:cNvPr id="6" name="Rounded Rectangle 5"/>
          <p:cNvSpPr/>
          <p:nvPr/>
        </p:nvSpPr>
        <p:spPr>
          <a:xfrm>
            <a:off x="502920" y="4572000"/>
            <a:ext cx="8138160" cy="1005840"/>
          </a:xfrm>
          <a:prstGeom prst="roundRect">
            <a:avLst/>
          </a:prstGeom>
          <a:solidFill>
            <a:srgbClr val="F5F8FC"/>
          </a:solidFill>
          <a:ln w="22225">
            <a:solidFill>
              <a:srgbClr val="7FC0B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A3A5C"/>
                </a:solidFill>
                <a:latin typeface="Times New Roman"/>
              </a:rPr>
              <a:t>Anyone can build a pipeline. We measured ours and reported what it said.</a:t>
            </a:r>
          </a:p>
          <a:p>
            <a:pPr algn="ctr"/>
            <a:r>
              <a:rPr sz="1200">
                <a:solidFill>
                  <a:srgbClr val="6B7A99"/>
                </a:solidFill>
                <a:latin typeface="Times New Roman"/>
              </a:rPr>
              <a:t>that is our contribution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737360"/>
            <a:ext cx="8046720" cy="868680"/>
          </a:xfrm>
          <a:prstGeom prst="rect">
            <a:avLst/>
          </a:prstGeom>
          <a:noFill/>
        </p:spPr>
        <p:txBody>
          <a:bodyPr wrap="square">
            <a:spAutoFit/>
          </a:bodyPr>
          <a:lstStyle/>
          <a:p>
            <a:pPr algn="ctr">
              <a:spcAft>
                <a:spcPts val="1000"/>
              </a:spcAft>
            </a:pPr>
            <a:r>
              <a:rPr sz="4400" b="1" i="0">
                <a:solidFill>
                  <a:srgbClr val="2A3A5C"/>
                </a:solidFill>
                <a:latin typeface="Times New Roman"/>
              </a:rPr>
              <a:t>Thank You</a:t>
            </a:r>
          </a:p>
        </p:txBody>
      </p:sp>
      <p:sp>
        <p:nvSpPr>
          <p:cNvPr id="3" name="TextBox 2"/>
          <p:cNvSpPr txBox="1"/>
          <p:nvPr/>
        </p:nvSpPr>
        <p:spPr>
          <a:xfrm>
            <a:off x="548640" y="2651760"/>
            <a:ext cx="8046720" cy="457200"/>
          </a:xfrm>
          <a:prstGeom prst="rect">
            <a:avLst/>
          </a:prstGeom>
          <a:noFill/>
        </p:spPr>
        <p:txBody>
          <a:bodyPr wrap="square">
            <a:spAutoFit/>
          </a:bodyPr>
          <a:lstStyle/>
          <a:p>
            <a:pPr algn="ctr">
              <a:spcAft>
                <a:spcPts val="1000"/>
              </a:spcAft>
            </a:pPr>
            <a:r>
              <a:rPr sz="2100" b="0" i="0">
                <a:solidFill>
                  <a:srgbClr val="6B7A99"/>
                </a:solidFill>
                <a:latin typeface="Times New Roman"/>
              </a:rPr>
              <a:t>Questions?</a:t>
            </a:r>
          </a:p>
        </p:txBody>
      </p:sp>
      <p:sp>
        <p:nvSpPr>
          <p:cNvPr id="4" name="Rectangle 3"/>
          <p:cNvSpPr/>
          <p:nvPr/>
        </p:nvSpPr>
        <p:spPr>
          <a:xfrm>
            <a:off x="3886200" y="3337560"/>
            <a:ext cx="1371600" cy="45720"/>
          </a:xfrm>
          <a:prstGeom prst="rect">
            <a:avLst/>
          </a:prstGeom>
          <a:solidFill>
            <a:srgbClr val="A9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611880"/>
            <a:ext cx="8046720" cy="1737360"/>
          </a:xfrm>
          <a:prstGeom prst="rect">
            <a:avLst/>
          </a:prstGeom>
          <a:noFill/>
        </p:spPr>
        <p:txBody>
          <a:bodyPr wrap="square">
            <a:spAutoFit/>
          </a:bodyPr>
          <a:lstStyle/>
          <a:p>
            <a:pPr algn="ctr">
              <a:spcAft>
                <a:spcPts val="900"/>
              </a:spcAft>
            </a:pPr>
            <a:r>
              <a:rPr sz="1500" b="1" i="0">
                <a:solidFill>
                  <a:srgbClr val="7FA8D4"/>
                </a:solidFill>
                <a:latin typeface="Times New Roman"/>
              </a:rPr>
              <a:t>Dashboard    apollo-m.streamlit.app</a:t>
            </a:r>
          </a:p>
          <a:p>
            <a:pPr algn="ctr">
              <a:spcAft>
                <a:spcPts val="900"/>
              </a:spcAft>
            </a:pPr>
            <a:r>
              <a:rPr sz="1500" b="1" i="0">
                <a:solidFill>
                  <a:srgbClr val="7FA8D4"/>
                </a:solidFill>
                <a:latin typeface="Times New Roman"/>
              </a:rPr>
              <a:t>API                 apollo-api-tllm.onrender.com/docs</a:t>
            </a:r>
          </a:p>
          <a:p>
            <a:pPr algn="ctr">
              <a:spcAft>
                <a:spcPts val="900"/>
              </a:spcAft>
            </a:pPr>
            <a:r>
              <a:rPr sz="1500" b="1" i="0">
                <a:solidFill>
                  <a:srgbClr val="7FA8D4"/>
                </a:solidFill>
                <a:latin typeface="Times New Roman"/>
              </a:rPr>
              <a:t>Code               github.com/kashaffatimajaffrey-design/apollo-m</a:t>
            </a:r>
          </a:p>
          <a:p>
            <a:pPr algn="ctr">
              <a:spcAft>
                <a:spcPts val="900"/>
              </a:spcAft>
            </a:pPr>
            <a:r>
              <a:rPr sz="1500" b="1" i="0">
                <a:solidFill>
                  <a:srgbClr val="7FA8D4"/>
                </a:solidFill>
                <a:latin typeface="Times New Roman"/>
              </a:rPr>
              <a:t>CEREBRO       cerebro-sandy-beta.vercel.app</a:t>
            </a:r>
          </a:p>
        </p:txBody>
      </p:sp>
    </p:spTree>
  </p:cSld>
  <p:clrMapOvr>
    <a:masterClrMapping/>
  </p:clrMapOvr>
</p:sld>
</file>

<file path=ppt/theme/theme1.xml><?xml version="1.0" encoding="utf-8"?>
<a:theme xmlns:a="http://schemas.openxmlformats.org/drawingml/2006/main" name="Office 佈景主題">
  <a:themeElements>
    <a:clrScheme name="Office 佈景主題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佈景主題">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87000"/>
          </a:lnSpc>
          <a:spcBef>
            <a:spcPct val="0"/>
          </a:spcBef>
          <a:spcAft>
            <a:spcPct val="0"/>
          </a:spcAft>
          <a:buClr>
            <a:srgbClr val="000000"/>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ＭＳ Ｐゴシック" pitchFamily="34"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87000"/>
          </a:lnSpc>
          <a:spcBef>
            <a:spcPct val="0"/>
          </a:spcBef>
          <a:spcAft>
            <a:spcPct val="0"/>
          </a:spcAft>
          <a:buClr>
            <a:srgbClr val="000000"/>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ＭＳ Ｐゴシック" pitchFamily="34" charset="-128"/>
          </a:defRPr>
        </a:defPPr>
      </a:lstStyle>
    </a:lnDef>
  </a:objectDefaults>
  <a:extraClrSchemeLst>
    <a:extraClrScheme>
      <a:clrScheme name="Office 佈景主題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佈景主題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佈景主題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佈景主題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佈景主題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佈景主題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佈景主題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6663</TotalTime>
  <Words>1203</Words>
  <Application>Microsoft Office PowerPoint</Application>
  <PresentationFormat>On-screen Show (4:3)</PresentationFormat>
  <Paragraphs>167</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Black</vt:lpstr>
      <vt:lpstr>Baskerville Old Face</vt:lpstr>
      <vt:lpstr>Times New Roman</vt:lpstr>
      <vt:lpstr>Wingdings</vt:lpstr>
      <vt:lpstr>Office 佈景主題</vt:lpstr>
      <vt:lpstr>PowerPoint Presentation</vt:lpstr>
      <vt:lpstr>Overview</vt:lpstr>
      <vt:lpstr>Introduction</vt:lpstr>
      <vt:lpstr>Background</vt:lpstr>
      <vt:lpstr>Motivation</vt:lpstr>
      <vt:lpstr>Problem Statement</vt:lpstr>
      <vt:lpstr>Scope of the Project</vt:lpstr>
      <vt:lpstr>Project Objectives</vt:lpstr>
      <vt:lpstr>Methodology/Framework</vt:lpstr>
      <vt:lpstr>Methodology/Framework</vt:lpstr>
      <vt:lpstr>Gantt Chart</vt:lpstr>
      <vt:lpstr>PowerPoint Presentation</vt:lpstr>
      <vt:lpstr>Conclusion</vt:lpstr>
      <vt:lpstr>Conclusion</vt:lpstr>
      <vt:lpstr>References</vt:lpstr>
      <vt:lpstr>Thank You /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L-System &amp; Particle System</dc:title>
  <dc:creator>test</dc:creator>
  <cp:lastModifiedBy>Rizwan Saleem</cp:lastModifiedBy>
  <cp:revision>695</cp:revision>
  <dcterms:modified xsi:type="dcterms:W3CDTF">2026-01-10T11:32:19Z</dcterms:modified>
</cp:coreProperties>
</file>